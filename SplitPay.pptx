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I'm excited to present SplitPay — a decentralized app built on Stellar that solves the headache of international group expenses.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all use apps like Splitwise to track who owes what. But when it's time to actually pay your friends back—especially if they live in different countries—the system breaks. You face high wire fees, different currencies, and delayed settlements.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Enter SplitPay. We put the entire group ledger on the Stellar testnet. Our Soroban smart contract runs a debt-simplification algorithm to reduce tangled debts into just one or two clean transactions. Payments settle globally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initial target market: international students and remote teams. The $800B+ remittance market focuses on large business transfers, completely ignoring casual, day-to-day group expenses.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stack is modern and robust. Next.js frontend on Vercel interacts with the Freighter wallet. The heavy lifting—calculating optimized settlement paths—happens in our Rust-based Soroban smart contract deployed on the Stellar testnet.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our Level 5 growth phase, we onboarded over 50 users. We actively listened to their feedback: easier invites led to 1-Click invite links, and accounting needs led to CSV Export. Both features are live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ahead: Phase 1 integrates Stellar anchors for fiat on/off ramps; Phase 2 launches a native mobile app; Phase 3 adds USDC support so users can settle without crypto volatility.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SplitPay makes cross-border group expenses fast, cheap, and entirely on-chain. We look forward to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6400800" y="-1371600"/>
            <a:ext cx="5029200" cy="5029200"/>
          </a:xfrm>
          <a:prstGeom prst="ellipse">
            <a:avLst/>
          </a:prstGeom>
          <a:solidFill>
            <a:srgbClr val="6366F1">
              <a:alpha val="20000"/>
            </a:srgbClr>
          </a:solidFill>
          <a:ln w="12700">
            <a:solidFill>
              <a:srgbClr val="6366F1"/>
            </a:solidFill>
            <a:prstDash val="solid"/>
          </a:ln>
        </p:spPr>
      </p:sp>
      <p:sp>
        <p:nvSpPr>
          <p:cNvPr id="3" name="Shape 1"/>
          <p:cNvSpPr/>
          <p:nvPr/>
        </p:nvSpPr>
        <p:spPr>
          <a:xfrm>
            <a:off x="-1371600" y="2743200"/>
            <a:ext cx="3657600" cy="3657600"/>
          </a:xfrm>
          <a:prstGeom prst="ellipse">
            <a:avLst/>
          </a:prstGeom>
          <a:solidFill>
            <a:srgbClr val="2DD4BF">
              <a:alpha val="15000"/>
            </a:srgbClr>
          </a:solidFill>
          <a:ln w="12700">
            <a:solidFill>
              <a:srgbClr val="2DD4BF"/>
            </a:solidFill>
            <a:prstDash val="solid"/>
          </a:ln>
        </p:spPr>
      </p:sp>
      <p:sp>
        <p:nvSpPr>
          <p:cNvPr id="4" name="Shape 2"/>
          <p:cNvSpPr/>
          <p:nvPr/>
        </p:nvSpPr>
        <p:spPr>
          <a:xfrm>
            <a:off x="548640" y="502920"/>
            <a:ext cx="2560320" cy="347472"/>
          </a:xfrm>
          <a:prstGeom prst="roundRect">
            <a:avLst>
              <a:gd name="adj" fmla="val 26316"/>
            </a:avLst>
          </a:prstGeom>
          <a:solidFill>
            <a:srgbClr val="2DD4BF">
              <a:alpha val="80000"/>
            </a:srgbClr>
          </a:solidFill>
          <a:ln w="12700">
            <a:solidFill>
              <a:srgbClr val="2DD4BF"/>
            </a:solidFill>
            <a:prstDash val="solid"/>
          </a:ln>
        </p:spPr>
      </p:sp>
      <p:sp>
        <p:nvSpPr>
          <p:cNvPr id="5" name="Text 3"/>
          <p:cNvSpPr/>
          <p:nvPr/>
        </p:nvSpPr>
        <p:spPr>
          <a:xfrm>
            <a:off x="548640" y="502920"/>
            <a:ext cx="2560320" cy="347472"/>
          </a:xfrm>
          <a:prstGeom prst="rect">
            <a:avLst/>
          </a:prstGeom>
          <a:noFill/>
          <a:ln/>
        </p:spPr>
        <p:txBody>
          <a:bodyPr wrap="square" lIns="0" tIns="0" rIns="0" bIns="0" rtlCol="0" anchor="ctr"/>
          <a:lstStyle/>
          <a:p>
            <a:pPr algn="ctr" indent="0" marL="0">
              <a:buNone/>
            </a:pPr>
            <a:r>
              <a:rPr lang="en-US" sz="900" b="1" dirty="0">
                <a:solidFill>
                  <a:srgbClr val="0F172A"/>
                </a:solidFill>
              </a:rPr>
              <a:t>🏆  HACKATHON SUBMISSION</a:t>
            </a:r>
            <a:endParaRPr lang="en-US" sz="900" dirty="0"/>
          </a:p>
        </p:txBody>
      </p:sp>
      <p:sp>
        <p:nvSpPr>
          <p:cNvPr id="6" name="Text 4"/>
          <p:cNvSpPr/>
          <p:nvPr/>
        </p:nvSpPr>
        <p:spPr>
          <a:xfrm>
            <a:off x="548640" y="1005840"/>
            <a:ext cx="7315200" cy="1371600"/>
          </a:xfrm>
          <a:prstGeom prst="rect">
            <a:avLst/>
          </a:prstGeom>
          <a:noFill/>
          <a:ln/>
        </p:spPr>
        <p:txBody>
          <a:bodyPr wrap="square"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SplitPay</a:t>
            </a:r>
            <a:endParaRPr lang="en-US" sz="7200" dirty="0"/>
          </a:p>
        </p:txBody>
      </p:sp>
      <p:sp>
        <p:nvSpPr>
          <p:cNvPr id="7" name="Shape 5"/>
          <p:cNvSpPr/>
          <p:nvPr/>
        </p:nvSpPr>
        <p:spPr>
          <a:xfrm>
            <a:off x="548640" y="2286000"/>
            <a:ext cx="4389120" cy="91440"/>
          </a:xfrm>
          <a:prstGeom prst="ellipse">
            <a:avLst/>
          </a:prstGeom>
          <a:solidFill>
            <a:srgbClr val="2DD4BF"/>
          </a:solidFill>
          <a:ln w="12700">
            <a:solidFill>
              <a:srgbClr val="2DD4BF"/>
            </a:solidFill>
            <a:prstDash val="solid"/>
          </a:ln>
        </p:spPr>
      </p:sp>
      <p:sp>
        <p:nvSpPr>
          <p:cNvPr id="8" name="Text 6"/>
          <p:cNvSpPr/>
          <p:nvPr/>
        </p:nvSpPr>
        <p:spPr>
          <a:xfrm>
            <a:off x="548640" y="2468880"/>
            <a:ext cx="7772400" cy="640080"/>
          </a:xfrm>
          <a:prstGeom prst="rect">
            <a:avLst/>
          </a:prstGeom>
          <a:noFill/>
          <a:ln/>
        </p:spPr>
        <p:txBody>
          <a:bodyPr wrap="square" rtlCol="0" anchor="ctr"/>
          <a:lstStyle/>
          <a:p>
            <a:pPr indent="0" marL="0">
              <a:buNone/>
            </a:pPr>
            <a:r>
              <a:rPr lang="en-US" sz="2000" i="1" dirty="0">
                <a:solidFill>
                  <a:srgbClr val="2DD4BF"/>
                </a:solidFill>
                <a:latin typeface="Calibri" pitchFamily="34" charset="0"/>
                <a:ea typeface="Calibri" pitchFamily="34" charset="-122"/>
                <a:cs typeface="Calibri" pitchFamily="34" charset="-120"/>
              </a:rPr>
              <a:t>Cross-Border Group Expense Settlement on Stellar</a:t>
            </a:r>
            <a:endParaRPr lang="en-US" sz="2000" dirty="0"/>
          </a:p>
        </p:txBody>
      </p:sp>
      <p:sp>
        <p:nvSpPr>
          <p:cNvPr id="9" name="Text 7"/>
          <p:cNvSpPr/>
          <p:nvPr/>
        </p:nvSpPr>
        <p:spPr>
          <a:xfrm>
            <a:off x="548640" y="3246120"/>
            <a:ext cx="7772400" cy="411480"/>
          </a:xfrm>
          <a:prstGeom prst="rect">
            <a:avLst/>
          </a:prstGeom>
          <a:noFill/>
          <a:ln/>
        </p:spPr>
        <p:txBody>
          <a:bodyPr wrap="square" rtlCol="0" anchor="ctr"/>
          <a:lstStyle/>
          <a:p>
            <a:pPr indent="0" marL="0">
              <a:buNone/>
            </a:pPr>
            <a:r>
              <a:rPr lang="en-US" sz="1300" dirty="0">
                <a:solidFill>
                  <a:srgbClr val="94A3B8"/>
                </a:solidFill>
                <a:latin typeface="Calibri" pitchFamily="34" charset="0"/>
                <a:ea typeface="Calibri" pitchFamily="34" charset="-122"/>
                <a:cs typeface="Calibri" pitchFamily="34" charset="-120"/>
              </a:rPr>
              <a:t>Built with Soroban Smart Contracts · Freighter Wallet · XLM</a:t>
            </a:r>
            <a:endParaRPr lang="en-US" sz="1300" dirty="0"/>
          </a:p>
        </p:txBody>
      </p:sp>
      <p:sp>
        <p:nvSpPr>
          <p:cNvPr id="10" name="Shape 8"/>
          <p:cNvSpPr/>
          <p:nvPr/>
        </p:nvSpPr>
        <p:spPr>
          <a:xfrm>
            <a:off x="548640" y="4023360"/>
            <a:ext cx="2468880" cy="777240"/>
          </a:xfrm>
          <a:prstGeom prst="roundRect">
            <a:avLst>
              <a:gd name="adj" fmla="val 14118"/>
            </a:avLst>
          </a:prstGeom>
          <a:solidFill>
            <a:srgbClr val="1E293B"/>
          </a:solidFill>
          <a:ln w="12700">
            <a:solidFill>
              <a:srgbClr val="6366F1"/>
            </a:solidFill>
            <a:prstDash val="solid"/>
          </a:ln>
          <a:effectLst>
            <a:outerShdw sx="100000" sy="100000" kx="0" ky="0" algn="bl" rotWithShape="0" blurRad="127000" dist="38100" dir="2700000">
              <a:srgbClr val="000000">
                <a:alpha val="12000"/>
              </a:srgbClr>
            </a:outerShdw>
          </a:effectLst>
        </p:spPr>
      </p:sp>
      <p:sp>
        <p:nvSpPr>
          <p:cNvPr id="11" name="Text 9"/>
          <p:cNvSpPr/>
          <p:nvPr/>
        </p:nvSpPr>
        <p:spPr>
          <a:xfrm>
            <a:off x="548640" y="4041648"/>
            <a:ext cx="2468880" cy="347472"/>
          </a:xfrm>
          <a:prstGeom prst="rect">
            <a:avLst/>
          </a:prstGeom>
          <a:noFill/>
          <a:ln/>
        </p:spPr>
        <p:txBody>
          <a:bodyPr wrap="square" lIns="0" tIns="0" rIns="0" bIns="0" rtlCol="0" anchor="ctr"/>
          <a:lstStyle/>
          <a:p>
            <a:pPr algn="ctr" indent="0" marL="0">
              <a:buNone/>
            </a:pPr>
            <a:r>
              <a:rPr lang="en-US" sz="1800" b="1" dirty="0">
                <a:solidFill>
                  <a:srgbClr val="2DD4BF"/>
                </a:solidFill>
              </a:rPr>
              <a:t>50+</a:t>
            </a:r>
            <a:endParaRPr lang="en-US" sz="1800" dirty="0"/>
          </a:p>
        </p:txBody>
      </p:sp>
      <p:sp>
        <p:nvSpPr>
          <p:cNvPr id="12" name="Text 10"/>
          <p:cNvSpPr/>
          <p:nvPr/>
        </p:nvSpPr>
        <p:spPr>
          <a:xfrm>
            <a:off x="548640" y="4370832"/>
            <a:ext cx="2468880" cy="347472"/>
          </a:xfrm>
          <a:prstGeom prst="rect">
            <a:avLst/>
          </a:prstGeom>
          <a:noFill/>
          <a:ln/>
        </p:spPr>
        <p:txBody>
          <a:bodyPr wrap="square" lIns="0" tIns="0" rIns="0" bIns="0" rtlCol="0" anchor="ctr"/>
          <a:lstStyle/>
          <a:p>
            <a:pPr algn="ctr" indent="0" marL="0">
              <a:buNone/>
            </a:pPr>
            <a:r>
              <a:rPr lang="en-US" sz="900" dirty="0">
                <a:solidFill>
                  <a:srgbClr val="94A3B8"/>
                </a:solidFill>
              </a:rPr>
              <a:t>Beta Users</a:t>
            </a:r>
            <a:endParaRPr lang="en-US" sz="900" dirty="0"/>
          </a:p>
        </p:txBody>
      </p:sp>
      <p:sp>
        <p:nvSpPr>
          <p:cNvPr id="13" name="Shape 11"/>
          <p:cNvSpPr/>
          <p:nvPr/>
        </p:nvSpPr>
        <p:spPr>
          <a:xfrm>
            <a:off x="3383280" y="4023360"/>
            <a:ext cx="2468880" cy="777240"/>
          </a:xfrm>
          <a:prstGeom prst="roundRect">
            <a:avLst>
              <a:gd name="adj" fmla="val 14118"/>
            </a:avLst>
          </a:prstGeom>
          <a:solidFill>
            <a:srgbClr val="1E293B"/>
          </a:solidFill>
          <a:ln w="12700">
            <a:solidFill>
              <a:srgbClr val="6366F1"/>
            </a:solidFill>
            <a:prstDash val="solid"/>
          </a:ln>
          <a:effectLst>
            <a:outerShdw sx="100000" sy="100000" kx="0" ky="0" algn="bl" rotWithShape="0" blurRad="127000" dist="38100" dir="2700000">
              <a:srgbClr val="000000">
                <a:alpha val="12000"/>
              </a:srgbClr>
            </a:outerShdw>
          </a:effectLst>
        </p:spPr>
      </p:sp>
      <p:sp>
        <p:nvSpPr>
          <p:cNvPr id="14" name="Text 12"/>
          <p:cNvSpPr/>
          <p:nvPr/>
        </p:nvSpPr>
        <p:spPr>
          <a:xfrm>
            <a:off x="3383280" y="4041648"/>
            <a:ext cx="2468880" cy="347472"/>
          </a:xfrm>
          <a:prstGeom prst="rect">
            <a:avLst/>
          </a:prstGeom>
          <a:noFill/>
          <a:ln/>
        </p:spPr>
        <p:txBody>
          <a:bodyPr wrap="square" lIns="0" tIns="0" rIns="0" bIns="0" rtlCol="0" anchor="ctr"/>
          <a:lstStyle/>
          <a:p>
            <a:pPr algn="ctr" indent="0" marL="0">
              <a:buNone/>
            </a:pPr>
            <a:r>
              <a:rPr lang="en-US" sz="1800" b="1" dirty="0">
                <a:solidFill>
                  <a:srgbClr val="2DD4BF"/>
                </a:solidFill>
              </a:rPr>
              <a:t>⚡</a:t>
            </a:r>
            <a:endParaRPr lang="en-US" sz="1800" dirty="0"/>
          </a:p>
        </p:txBody>
      </p:sp>
      <p:sp>
        <p:nvSpPr>
          <p:cNvPr id="15" name="Text 13"/>
          <p:cNvSpPr/>
          <p:nvPr/>
        </p:nvSpPr>
        <p:spPr>
          <a:xfrm>
            <a:off x="3383280" y="4370832"/>
            <a:ext cx="2468880" cy="347472"/>
          </a:xfrm>
          <a:prstGeom prst="rect">
            <a:avLst/>
          </a:prstGeom>
          <a:noFill/>
          <a:ln/>
        </p:spPr>
        <p:txBody>
          <a:bodyPr wrap="square" lIns="0" tIns="0" rIns="0" bIns="0" rtlCol="0" anchor="ctr"/>
          <a:lstStyle/>
          <a:p>
            <a:pPr algn="ctr" indent="0" marL="0">
              <a:buNone/>
            </a:pPr>
            <a:r>
              <a:rPr lang="en-US" sz="900" dirty="0">
                <a:solidFill>
                  <a:srgbClr val="94A3B8"/>
                </a:solidFill>
              </a:rPr>
              <a:t>Instant Settlement</a:t>
            </a:r>
            <a:endParaRPr lang="en-US" sz="900" dirty="0"/>
          </a:p>
        </p:txBody>
      </p:sp>
      <p:sp>
        <p:nvSpPr>
          <p:cNvPr id="16" name="Shape 14"/>
          <p:cNvSpPr/>
          <p:nvPr/>
        </p:nvSpPr>
        <p:spPr>
          <a:xfrm>
            <a:off x="6217920" y="4023360"/>
            <a:ext cx="2468880" cy="777240"/>
          </a:xfrm>
          <a:prstGeom prst="roundRect">
            <a:avLst>
              <a:gd name="adj" fmla="val 14118"/>
            </a:avLst>
          </a:prstGeom>
          <a:solidFill>
            <a:srgbClr val="1E293B"/>
          </a:solidFill>
          <a:ln w="12700">
            <a:solidFill>
              <a:srgbClr val="6366F1"/>
            </a:solidFill>
            <a:prstDash val="solid"/>
          </a:ln>
          <a:effectLst>
            <a:outerShdw sx="100000" sy="100000" kx="0" ky="0" algn="bl" rotWithShape="0" blurRad="127000" dist="38100" dir="2700000">
              <a:srgbClr val="000000">
                <a:alpha val="12000"/>
              </a:srgbClr>
            </a:outerShdw>
          </a:effectLst>
        </p:spPr>
      </p:sp>
      <p:sp>
        <p:nvSpPr>
          <p:cNvPr id="17" name="Text 15"/>
          <p:cNvSpPr/>
          <p:nvPr/>
        </p:nvSpPr>
        <p:spPr>
          <a:xfrm>
            <a:off x="6217920" y="4041648"/>
            <a:ext cx="2468880" cy="347472"/>
          </a:xfrm>
          <a:prstGeom prst="rect">
            <a:avLst/>
          </a:prstGeom>
          <a:noFill/>
          <a:ln/>
        </p:spPr>
        <p:txBody>
          <a:bodyPr wrap="square" lIns="0" tIns="0" rIns="0" bIns="0" rtlCol="0" anchor="ctr"/>
          <a:lstStyle/>
          <a:p>
            <a:pPr algn="ctr" indent="0" marL="0">
              <a:buNone/>
            </a:pPr>
            <a:r>
              <a:rPr lang="en-US" sz="1800" b="1" dirty="0">
                <a:solidFill>
                  <a:srgbClr val="2DD4BF"/>
                </a:solidFill>
              </a:rPr>
              <a:t>🌍</a:t>
            </a:r>
            <a:endParaRPr lang="en-US" sz="1800" dirty="0"/>
          </a:p>
        </p:txBody>
      </p:sp>
      <p:sp>
        <p:nvSpPr>
          <p:cNvPr id="18" name="Text 16"/>
          <p:cNvSpPr/>
          <p:nvPr/>
        </p:nvSpPr>
        <p:spPr>
          <a:xfrm>
            <a:off x="6217920" y="4370832"/>
            <a:ext cx="2468880" cy="347472"/>
          </a:xfrm>
          <a:prstGeom prst="rect">
            <a:avLst/>
          </a:prstGeom>
          <a:noFill/>
          <a:ln/>
        </p:spPr>
        <p:txBody>
          <a:bodyPr wrap="square" lIns="0" tIns="0" rIns="0" bIns="0" rtlCol="0" anchor="ctr"/>
          <a:lstStyle/>
          <a:p>
            <a:pPr algn="ctr" indent="0" marL="0">
              <a:buNone/>
            </a:pPr>
            <a:r>
              <a:rPr lang="en-US" sz="900" dirty="0">
                <a:solidFill>
                  <a:srgbClr val="94A3B8"/>
                </a:solidFill>
              </a:rPr>
              <a:t>Cross-Border</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Text 1"/>
          <p:cNvSpPr/>
          <p:nvPr/>
        </p:nvSpPr>
        <p:spPr>
          <a:xfrm>
            <a:off x="457200" y="0"/>
            <a:ext cx="8229600" cy="1005840"/>
          </a:xfrm>
          <a:prstGeom prst="rect">
            <a:avLst/>
          </a:prstGeom>
          <a:noFill/>
          <a:ln/>
        </p:spPr>
        <p:txBody>
          <a:bodyPr wrap="square" lIns="0" tIns="0" rIns="0" bIns="0" rtlCol="0" anchor="ctr"/>
          <a:lstStyle/>
          <a:p>
            <a:pPr indent="0" marL="0">
              <a:buNone/>
            </a:pPr>
            <a:r>
              <a:rPr lang="en-US" sz="3200" b="1" dirty="0">
                <a:solidFill>
                  <a:srgbClr val="2DD4BF"/>
                </a:solidFill>
                <a:latin typeface="Cambria" pitchFamily="34" charset="0"/>
                <a:ea typeface="Cambria" pitchFamily="34" charset="-122"/>
                <a:cs typeface="Cambria" pitchFamily="34" charset="-120"/>
              </a:rPr>
              <a:t>THE PROBLEM</a:t>
            </a:r>
            <a:endParaRPr lang="en-US" sz="3200" dirty="0"/>
          </a:p>
        </p:txBody>
      </p:sp>
      <p:sp>
        <p:nvSpPr>
          <p:cNvPr id="4" name="Text 2"/>
          <p:cNvSpPr/>
          <p:nvPr/>
        </p:nvSpPr>
        <p:spPr>
          <a:xfrm>
            <a:off x="457200" y="1143000"/>
            <a:ext cx="8229600" cy="411480"/>
          </a:xfrm>
          <a:prstGeom prst="rect">
            <a:avLst/>
          </a:prstGeom>
          <a:noFill/>
          <a:ln/>
        </p:spPr>
        <p:txBody>
          <a:bodyPr wrap="square" rtlCol="0" anchor="ctr"/>
          <a:lstStyle/>
          <a:p>
            <a:pPr indent="0" marL="0">
              <a:buNone/>
            </a:pPr>
            <a:r>
              <a:rPr lang="en-US" sz="1600" i="1" dirty="0">
                <a:solidFill>
                  <a:srgbClr val="64748B"/>
                </a:solidFill>
                <a:latin typeface="Calibri" pitchFamily="34" charset="0"/>
                <a:ea typeface="Calibri" pitchFamily="34" charset="-122"/>
                <a:cs typeface="Calibri" pitchFamily="34" charset="-120"/>
              </a:rPr>
              <a:t>Splitting costs internationally is broken</a:t>
            </a:r>
            <a:endParaRPr lang="en-US" sz="1600" dirty="0"/>
          </a:p>
        </p:txBody>
      </p:sp>
      <p:sp>
        <p:nvSpPr>
          <p:cNvPr id="5" name="Shape 3"/>
          <p:cNvSpPr/>
          <p:nvPr/>
        </p:nvSpPr>
        <p:spPr>
          <a:xfrm>
            <a:off x="457200" y="1691640"/>
            <a:ext cx="8229600" cy="841248"/>
          </a:xfrm>
          <a:prstGeom prst="roundRect">
            <a:avLst>
              <a:gd name="adj" fmla="val 10870"/>
            </a:avLst>
          </a:prstGeom>
          <a:solidFill>
            <a:srgbClr val="FFFFFF"/>
          </a:solidFill>
          <a:ln w="12700">
            <a:solidFill>
              <a:srgbClr val="E2E8F0"/>
            </a:solidFill>
            <a:prstDash val="solid"/>
          </a:ln>
          <a:effectLst>
            <a:outerShdw sx="100000" sy="100000" kx="0" ky="0" algn="bl" rotWithShape="0" blurRad="127000" dist="38100" dir="2700000">
              <a:srgbClr val="000000">
                <a:alpha val="12000"/>
              </a:srgbClr>
            </a:outerShdw>
          </a:effectLst>
        </p:spPr>
      </p:sp>
      <p:sp>
        <p:nvSpPr>
          <p:cNvPr id="6" name="Shape 4"/>
          <p:cNvSpPr/>
          <p:nvPr/>
        </p:nvSpPr>
        <p:spPr>
          <a:xfrm>
            <a:off x="594360" y="1819656"/>
            <a:ext cx="566928" cy="566928"/>
          </a:xfrm>
          <a:prstGeom prst="ellipse">
            <a:avLst/>
          </a:prstGeom>
          <a:solidFill>
            <a:srgbClr val="0F172A"/>
          </a:solidFill>
          <a:ln w="12700">
            <a:solidFill>
              <a:srgbClr val="0F172A"/>
            </a:solidFill>
            <a:prstDash val="solid"/>
          </a:ln>
        </p:spPr>
      </p:sp>
      <p:pic>
        <p:nvPicPr>
          <p:cNvPr id="7" name="Image 0" descr="preencoded.png">    </p:cNvPr>
          <p:cNvPicPr>
            <a:picLocks noChangeAspect="1"/>
          </p:cNvPicPr>
          <p:nvPr/>
        </p:nvPicPr>
        <p:blipFill>
          <a:blip r:embed="rId1"/>
          <a:stretch>
            <a:fillRect/>
          </a:stretch>
        </p:blipFill>
        <p:spPr>
          <a:xfrm>
            <a:off x="667512" y="1892808"/>
            <a:ext cx="420624" cy="420624"/>
          </a:xfrm>
          <a:prstGeom prst="rect">
            <a:avLst/>
          </a:prstGeom>
        </p:spPr>
      </p:pic>
      <p:sp>
        <p:nvSpPr>
          <p:cNvPr id="8" name="Text 5"/>
          <p:cNvSpPr/>
          <p:nvPr/>
        </p:nvSpPr>
        <p:spPr>
          <a:xfrm>
            <a:off x="1325880" y="1764792"/>
            <a:ext cx="7132320" cy="30175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Fragmented Bookkeeping</a:t>
            </a:r>
            <a:endParaRPr lang="en-US" sz="1400" dirty="0"/>
          </a:p>
        </p:txBody>
      </p:sp>
      <p:sp>
        <p:nvSpPr>
          <p:cNvPr id="9" name="Text 6"/>
          <p:cNvSpPr/>
          <p:nvPr/>
        </p:nvSpPr>
        <p:spPr>
          <a:xfrm>
            <a:off x="1325880" y="2075688"/>
            <a:ext cx="7132320" cy="3657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Splitwise solves the math — but you still have to settle manually with no real payment layer.</a:t>
            </a:r>
            <a:endParaRPr lang="en-US" sz="1150" dirty="0"/>
          </a:p>
        </p:txBody>
      </p:sp>
      <p:sp>
        <p:nvSpPr>
          <p:cNvPr id="10" name="Shape 7"/>
          <p:cNvSpPr/>
          <p:nvPr/>
        </p:nvSpPr>
        <p:spPr>
          <a:xfrm>
            <a:off x="457200" y="2697480"/>
            <a:ext cx="8229600" cy="841248"/>
          </a:xfrm>
          <a:prstGeom prst="roundRect">
            <a:avLst>
              <a:gd name="adj" fmla="val 10870"/>
            </a:avLst>
          </a:prstGeom>
          <a:solidFill>
            <a:srgbClr val="FFFFFF"/>
          </a:solidFill>
          <a:ln w="12700">
            <a:solidFill>
              <a:srgbClr val="E2E8F0"/>
            </a:solidFill>
            <a:prstDash val="solid"/>
          </a:ln>
          <a:effectLst>
            <a:outerShdw sx="100000" sy="100000" kx="0" ky="0" algn="bl" rotWithShape="0" blurRad="127000" dist="38100" dir="2700000">
              <a:srgbClr val="000000">
                <a:alpha val="12000"/>
              </a:srgbClr>
            </a:outerShdw>
          </a:effectLst>
        </p:spPr>
      </p:sp>
      <p:sp>
        <p:nvSpPr>
          <p:cNvPr id="11" name="Shape 8"/>
          <p:cNvSpPr/>
          <p:nvPr/>
        </p:nvSpPr>
        <p:spPr>
          <a:xfrm>
            <a:off x="594360" y="2825496"/>
            <a:ext cx="566928" cy="566928"/>
          </a:xfrm>
          <a:prstGeom prst="ellipse">
            <a:avLst/>
          </a:prstGeom>
          <a:solidFill>
            <a:srgbClr val="0F172A"/>
          </a:solidFill>
          <a:ln w="12700">
            <a:solidFill>
              <a:srgbClr val="0F172A"/>
            </a:solidFill>
            <a:prstDash val="solid"/>
          </a:ln>
        </p:spPr>
      </p:sp>
      <p:pic>
        <p:nvPicPr>
          <p:cNvPr id="12" name="Image 1" descr="preencoded.png">    </p:cNvPr>
          <p:cNvPicPr>
            <a:picLocks noChangeAspect="1"/>
          </p:cNvPicPr>
          <p:nvPr/>
        </p:nvPicPr>
        <p:blipFill>
          <a:blip r:embed="rId2"/>
          <a:stretch>
            <a:fillRect/>
          </a:stretch>
        </p:blipFill>
        <p:spPr>
          <a:xfrm>
            <a:off x="667512" y="2898648"/>
            <a:ext cx="420624" cy="420624"/>
          </a:xfrm>
          <a:prstGeom prst="rect">
            <a:avLst/>
          </a:prstGeom>
        </p:spPr>
      </p:pic>
      <p:sp>
        <p:nvSpPr>
          <p:cNvPr id="13" name="Text 9"/>
          <p:cNvSpPr/>
          <p:nvPr/>
        </p:nvSpPr>
        <p:spPr>
          <a:xfrm>
            <a:off x="1325880" y="2770632"/>
            <a:ext cx="7132320" cy="30175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Cross-Border Friction</a:t>
            </a:r>
            <a:endParaRPr lang="en-US" sz="1400" dirty="0"/>
          </a:p>
        </p:txBody>
      </p:sp>
      <p:sp>
        <p:nvSpPr>
          <p:cNvPr id="14" name="Text 10"/>
          <p:cNvSpPr/>
          <p:nvPr/>
        </p:nvSpPr>
        <p:spPr>
          <a:xfrm>
            <a:off x="1325880" y="3081528"/>
            <a:ext cx="7132320" cy="3657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Bank transfers and Venmo don't work internationally. No P2P way to close shared debt across borders.</a:t>
            </a:r>
            <a:endParaRPr lang="en-US" sz="1150" dirty="0"/>
          </a:p>
        </p:txBody>
      </p:sp>
      <p:sp>
        <p:nvSpPr>
          <p:cNvPr id="15" name="Shape 11"/>
          <p:cNvSpPr/>
          <p:nvPr/>
        </p:nvSpPr>
        <p:spPr>
          <a:xfrm>
            <a:off x="457200" y="3703320"/>
            <a:ext cx="8229600" cy="841248"/>
          </a:xfrm>
          <a:prstGeom prst="roundRect">
            <a:avLst>
              <a:gd name="adj" fmla="val 10870"/>
            </a:avLst>
          </a:prstGeom>
          <a:solidFill>
            <a:srgbClr val="FFFFFF"/>
          </a:solidFill>
          <a:ln w="12700">
            <a:solidFill>
              <a:srgbClr val="E2E8F0"/>
            </a:solidFill>
            <a:prstDash val="solid"/>
          </a:ln>
          <a:effectLst>
            <a:outerShdw sx="100000" sy="100000" kx="0" ky="0" algn="bl" rotWithShape="0" blurRad="127000" dist="38100" dir="2700000">
              <a:srgbClr val="000000">
                <a:alpha val="12000"/>
              </a:srgbClr>
            </a:outerShdw>
          </a:effectLst>
        </p:spPr>
      </p:sp>
      <p:sp>
        <p:nvSpPr>
          <p:cNvPr id="16" name="Shape 12"/>
          <p:cNvSpPr/>
          <p:nvPr/>
        </p:nvSpPr>
        <p:spPr>
          <a:xfrm>
            <a:off x="594360" y="3831336"/>
            <a:ext cx="566928" cy="566928"/>
          </a:xfrm>
          <a:prstGeom prst="ellipse">
            <a:avLst/>
          </a:prstGeom>
          <a:solidFill>
            <a:srgbClr val="0F172A"/>
          </a:solidFill>
          <a:ln w="12700">
            <a:solidFill>
              <a:srgbClr val="0F172A"/>
            </a:solidFill>
            <a:prstDash val="solid"/>
          </a:ln>
        </p:spPr>
      </p:sp>
      <p:pic>
        <p:nvPicPr>
          <p:cNvPr id="17" name="Image 2" descr="preencoded.png">    </p:cNvPr>
          <p:cNvPicPr>
            <a:picLocks noChangeAspect="1"/>
          </p:cNvPicPr>
          <p:nvPr/>
        </p:nvPicPr>
        <p:blipFill>
          <a:blip r:embed="rId3"/>
          <a:stretch>
            <a:fillRect/>
          </a:stretch>
        </p:blipFill>
        <p:spPr>
          <a:xfrm>
            <a:off x="667512" y="3904488"/>
            <a:ext cx="420624" cy="420624"/>
          </a:xfrm>
          <a:prstGeom prst="rect">
            <a:avLst/>
          </a:prstGeom>
        </p:spPr>
      </p:pic>
      <p:sp>
        <p:nvSpPr>
          <p:cNvPr id="18" name="Text 13"/>
          <p:cNvSpPr/>
          <p:nvPr/>
        </p:nvSpPr>
        <p:spPr>
          <a:xfrm>
            <a:off x="1325880" y="3776472"/>
            <a:ext cx="7132320" cy="301752"/>
          </a:xfrm>
          <a:prstGeom prst="rect">
            <a:avLst/>
          </a:prstGeom>
          <a:noFill/>
          <a:ln/>
        </p:spPr>
        <p:txBody>
          <a:bodyPr wrap="square" lIns="0" tIns="0" rIns="0" bIns="0" rtlCol="0" anchor="ctr"/>
          <a:lstStyle/>
          <a:p>
            <a:pPr indent="0" marL="0">
              <a:buNone/>
            </a:pPr>
            <a:r>
              <a:rPr lang="en-US" sz="1400" b="1" dirty="0">
                <a:solidFill>
                  <a:srgbClr val="0F172A"/>
                </a:solidFill>
                <a:latin typeface="Calibri" pitchFamily="34" charset="0"/>
                <a:ea typeface="Calibri" pitchFamily="34" charset="-122"/>
                <a:cs typeface="Calibri" pitchFamily="34" charset="-120"/>
              </a:rPr>
              <a:t>High Fees &amp; Delays</a:t>
            </a:r>
            <a:endParaRPr lang="en-US" sz="1400" dirty="0"/>
          </a:p>
        </p:txBody>
      </p:sp>
      <p:sp>
        <p:nvSpPr>
          <p:cNvPr id="19" name="Text 14"/>
          <p:cNvSpPr/>
          <p:nvPr/>
        </p:nvSpPr>
        <p:spPr>
          <a:xfrm>
            <a:off x="1325880" y="4087368"/>
            <a:ext cx="7132320" cy="3657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Traditional remittance takes days and costs far too much for small, casual group transactions.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5943600" y="2286000"/>
            <a:ext cx="4572000" cy="4572000"/>
          </a:xfrm>
          <a:prstGeom prst="ellipse">
            <a:avLst/>
          </a:prstGeom>
          <a:solidFill>
            <a:srgbClr val="2DD4BF">
              <a:alpha val="10000"/>
            </a:srgbClr>
          </a:solidFill>
          <a:ln w="12700">
            <a:solidFill>
              <a:srgbClr val="2DD4BF"/>
            </a:solidFill>
            <a:prstDash val="solid"/>
          </a:ln>
        </p:spPr>
      </p:sp>
      <p:sp>
        <p:nvSpPr>
          <p:cNvPr id="3" name="Text 1"/>
          <p:cNvSpPr/>
          <p:nvPr/>
        </p:nvSpPr>
        <p:spPr>
          <a:xfrm>
            <a:off x="457200" y="228600"/>
            <a:ext cx="8229600" cy="594360"/>
          </a:xfrm>
          <a:prstGeom prst="rect">
            <a:avLst/>
          </a:prstGeom>
          <a:noFill/>
          <a:ln/>
        </p:spPr>
        <p:txBody>
          <a:bodyPr wrap="square" rtlCol="0" anchor="ctr"/>
          <a:lstStyle/>
          <a:p>
            <a:pPr indent="0" marL="0">
              <a:buNone/>
            </a:pPr>
            <a:r>
              <a:rPr lang="en-US" sz="3200" b="1" dirty="0">
                <a:solidFill>
                  <a:srgbClr val="2DD4BF"/>
                </a:solidFill>
                <a:latin typeface="Cambria" pitchFamily="34" charset="0"/>
                <a:ea typeface="Cambria" pitchFamily="34" charset="-122"/>
                <a:cs typeface="Cambria" pitchFamily="34" charset="-120"/>
              </a:rPr>
              <a:t>THE SOLUTION</a:t>
            </a:r>
            <a:endParaRPr lang="en-US" sz="3200" dirty="0"/>
          </a:p>
        </p:txBody>
      </p:sp>
      <p:sp>
        <p:nvSpPr>
          <p:cNvPr id="4" name="Text 2"/>
          <p:cNvSpPr/>
          <p:nvPr/>
        </p:nvSpPr>
        <p:spPr>
          <a:xfrm>
            <a:off x="457200" y="822960"/>
            <a:ext cx="8229600" cy="365760"/>
          </a:xfrm>
          <a:prstGeom prst="rect">
            <a:avLst/>
          </a:prstGeom>
          <a:noFill/>
          <a:ln/>
        </p:spPr>
        <p:txBody>
          <a:bodyPr wrap="square" rtlCol="0" anchor="ctr"/>
          <a:lstStyle/>
          <a:p>
            <a:pPr indent="0" marL="0">
              <a:buNone/>
            </a:pPr>
            <a:r>
              <a:rPr lang="en-US" sz="1400" i="1" dirty="0">
                <a:solidFill>
                  <a:srgbClr val="94A3B8"/>
                </a:solidFill>
                <a:latin typeface="Calibri" pitchFamily="34" charset="0"/>
                <a:ea typeface="Calibri" pitchFamily="34" charset="-122"/>
                <a:cs typeface="Calibri" pitchFamily="34" charset="-120"/>
              </a:rPr>
              <a:t>SplitPay puts group expenses entirely on-chain</a:t>
            </a:r>
            <a:endParaRPr lang="en-US" sz="1400" dirty="0"/>
          </a:p>
        </p:txBody>
      </p:sp>
      <p:sp>
        <p:nvSpPr>
          <p:cNvPr id="5" name="Shape 3"/>
          <p:cNvSpPr/>
          <p:nvPr/>
        </p:nvSpPr>
        <p:spPr>
          <a:xfrm>
            <a:off x="457200" y="1325880"/>
            <a:ext cx="8229600" cy="987552"/>
          </a:xfrm>
          <a:prstGeom prst="roundRect">
            <a:avLst>
              <a:gd name="adj" fmla="val 11111"/>
            </a:avLst>
          </a:prstGeom>
          <a:solidFill>
            <a:srgbClr val="1E293B"/>
          </a:solidFill>
          <a:ln w="12700">
            <a:solidFill>
              <a:srgbClr val="6366F1"/>
            </a:solidFill>
            <a:prstDash val="solid"/>
          </a:ln>
          <a:effectLst>
            <a:outerShdw sx="100000" sy="100000" kx="0" ky="0" algn="bl" rotWithShape="0" blurRad="127000" dist="38100" dir="2700000">
              <a:srgbClr val="000000">
                <a:alpha val="12000"/>
              </a:srgbClr>
            </a:outerShdw>
          </a:effectLst>
        </p:spPr>
      </p:sp>
      <p:sp>
        <p:nvSpPr>
          <p:cNvPr id="6" name="Shape 4"/>
          <p:cNvSpPr/>
          <p:nvPr/>
        </p:nvSpPr>
        <p:spPr>
          <a:xfrm>
            <a:off x="640080" y="1508760"/>
            <a:ext cx="594360" cy="594360"/>
          </a:xfrm>
          <a:prstGeom prst="ellipse">
            <a:avLst/>
          </a:prstGeom>
          <a:solidFill>
            <a:srgbClr val="2DD4BF">
              <a:alpha val="80000"/>
            </a:srgbClr>
          </a:solidFill>
          <a:ln w="12700">
            <a:solidFill>
              <a:srgbClr val="2DD4BF"/>
            </a:solidFill>
            <a:prstDash val="solid"/>
          </a:ln>
        </p:spPr>
      </p:sp>
      <p:pic>
        <p:nvPicPr>
          <p:cNvPr id="7" name="Image 0" descr="preencoded.png">    </p:cNvPr>
          <p:cNvPicPr>
            <a:picLocks noChangeAspect="1"/>
          </p:cNvPicPr>
          <p:nvPr/>
        </p:nvPicPr>
        <p:blipFill>
          <a:blip r:embed="rId1"/>
          <a:stretch>
            <a:fillRect/>
          </a:stretch>
        </p:blipFill>
        <p:spPr>
          <a:xfrm>
            <a:off x="713232" y="1581912"/>
            <a:ext cx="438912" cy="438912"/>
          </a:xfrm>
          <a:prstGeom prst="rect">
            <a:avLst/>
          </a:prstGeom>
        </p:spPr>
      </p:pic>
      <p:sp>
        <p:nvSpPr>
          <p:cNvPr id="8" name="Text 5"/>
          <p:cNvSpPr/>
          <p:nvPr/>
        </p:nvSpPr>
        <p:spPr>
          <a:xfrm>
            <a:off x="1417320" y="1417320"/>
            <a:ext cx="704088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On-Chain Logging</a:t>
            </a:r>
            <a:endParaRPr lang="en-US" sz="1400" dirty="0"/>
          </a:p>
        </p:txBody>
      </p:sp>
      <p:sp>
        <p:nvSpPr>
          <p:cNvPr id="9" name="Text 6"/>
          <p:cNvSpPr/>
          <p:nvPr/>
        </p:nvSpPr>
        <p:spPr>
          <a:xfrm>
            <a:off x="1417320" y="1783080"/>
            <a:ext cx="7040880" cy="402336"/>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All shared expenses are recorded transparently on the Stellar testnet — immutable and auditable.</a:t>
            </a:r>
            <a:endParaRPr lang="en-US" sz="1150" dirty="0"/>
          </a:p>
        </p:txBody>
      </p:sp>
      <p:sp>
        <p:nvSpPr>
          <p:cNvPr id="10" name="Shape 7"/>
          <p:cNvSpPr/>
          <p:nvPr/>
        </p:nvSpPr>
        <p:spPr>
          <a:xfrm>
            <a:off x="457200" y="2468880"/>
            <a:ext cx="8229600" cy="987552"/>
          </a:xfrm>
          <a:prstGeom prst="roundRect">
            <a:avLst>
              <a:gd name="adj" fmla="val 11111"/>
            </a:avLst>
          </a:prstGeom>
          <a:solidFill>
            <a:srgbClr val="1E293B"/>
          </a:solidFill>
          <a:ln w="12700">
            <a:solidFill>
              <a:srgbClr val="6366F1"/>
            </a:solidFill>
            <a:prstDash val="solid"/>
          </a:ln>
          <a:effectLst>
            <a:outerShdw sx="100000" sy="100000" kx="0" ky="0" algn="bl" rotWithShape="0" blurRad="127000" dist="38100" dir="2700000">
              <a:srgbClr val="000000">
                <a:alpha val="12000"/>
              </a:srgbClr>
            </a:outerShdw>
          </a:effectLst>
        </p:spPr>
      </p:sp>
      <p:sp>
        <p:nvSpPr>
          <p:cNvPr id="11" name="Shape 8"/>
          <p:cNvSpPr/>
          <p:nvPr/>
        </p:nvSpPr>
        <p:spPr>
          <a:xfrm>
            <a:off x="640080" y="2651760"/>
            <a:ext cx="594360" cy="594360"/>
          </a:xfrm>
          <a:prstGeom prst="ellipse">
            <a:avLst/>
          </a:prstGeom>
          <a:solidFill>
            <a:srgbClr val="2DD4BF">
              <a:alpha val="80000"/>
            </a:srgbClr>
          </a:solidFill>
          <a:ln w="12700">
            <a:solidFill>
              <a:srgbClr val="2DD4BF"/>
            </a:solidFill>
            <a:prstDash val="solid"/>
          </a:ln>
        </p:spPr>
      </p:sp>
      <p:pic>
        <p:nvPicPr>
          <p:cNvPr id="12" name="Image 1" descr="preencoded.png">    </p:cNvPr>
          <p:cNvPicPr>
            <a:picLocks noChangeAspect="1"/>
          </p:cNvPicPr>
          <p:nvPr/>
        </p:nvPicPr>
        <p:blipFill>
          <a:blip r:embed="rId2"/>
          <a:stretch>
            <a:fillRect/>
          </a:stretch>
        </p:blipFill>
        <p:spPr>
          <a:xfrm>
            <a:off x="713232" y="2724912"/>
            <a:ext cx="438912" cy="438912"/>
          </a:xfrm>
          <a:prstGeom prst="rect">
            <a:avLst/>
          </a:prstGeom>
        </p:spPr>
      </p:pic>
      <p:sp>
        <p:nvSpPr>
          <p:cNvPr id="13" name="Text 9"/>
          <p:cNvSpPr/>
          <p:nvPr/>
        </p:nvSpPr>
        <p:spPr>
          <a:xfrm>
            <a:off x="1417320" y="2560320"/>
            <a:ext cx="704088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Debt-Simplification Algorithm</a:t>
            </a:r>
            <a:endParaRPr lang="en-US" sz="1400" dirty="0"/>
          </a:p>
        </p:txBody>
      </p:sp>
      <p:sp>
        <p:nvSpPr>
          <p:cNvPr id="14" name="Text 10"/>
          <p:cNvSpPr/>
          <p:nvPr/>
        </p:nvSpPr>
        <p:spPr>
          <a:xfrm>
            <a:off x="1417320" y="2926080"/>
            <a:ext cx="7040880" cy="402336"/>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Soroban smart contract computes the minimum transfers needed to zero out the group — no tangled IOUs.</a:t>
            </a:r>
            <a:endParaRPr lang="en-US" sz="1150" dirty="0"/>
          </a:p>
        </p:txBody>
      </p:sp>
      <p:sp>
        <p:nvSpPr>
          <p:cNvPr id="15" name="Shape 11"/>
          <p:cNvSpPr/>
          <p:nvPr/>
        </p:nvSpPr>
        <p:spPr>
          <a:xfrm>
            <a:off x="457200" y="3611880"/>
            <a:ext cx="8229600" cy="987552"/>
          </a:xfrm>
          <a:prstGeom prst="roundRect">
            <a:avLst>
              <a:gd name="adj" fmla="val 11111"/>
            </a:avLst>
          </a:prstGeom>
          <a:solidFill>
            <a:srgbClr val="1E293B"/>
          </a:solidFill>
          <a:ln w="12700">
            <a:solidFill>
              <a:srgbClr val="6366F1"/>
            </a:solidFill>
            <a:prstDash val="solid"/>
          </a:ln>
          <a:effectLst>
            <a:outerShdw sx="100000" sy="100000" kx="0" ky="0" algn="bl" rotWithShape="0" blurRad="127000" dist="38100" dir="2700000">
              <a:srgbClr val="000000">
                <a:alpha val="12000"/>
              </a:srgbClr>
            </a:outerShdw>
          </a:effectLst>
        </p:spPr>
      </p:sp>
      <p:sp>
        <p:nvSpPr>
          <p:cNvPr id="16" name="Shape 12"/>
          <p:cNvSpPr/>
          <p:nvPr/>
        </p:nvSpPr>
        <p:spPr>
          <a:xfrm>
            <a:off x="640080" y="3794760"/>
            <a:ext cx="594360" cy="594360"/>
          </a:xfrm>
          <a:prstGeom prst="ellipse">
            <a:avLst/>
          </a:prstGeom>
          <a:solidFill>
            <a:srgbClr val="2DD4BF">
              <a:alpha val="80000"/>
            </a:srgbClr>
          </a:solidFill>
          <a:ln w="12700">
            <a:solidFill>
              <a:srgbClr val="2DD4BF"/>
            </a:solidFill>
            <a:prstDash val="solid"/>
          </a:ln>
        </p:spPr>
      </p:sp>
      <p:pic>
        <p:nvPicPr>
          <p:cNvPr id="17" name="Image 2" descr="preencoded.png">    </p:cNvPr>
          <p:cNvPicPr>
            <a:picLocks noChangeAspect="1"/>
          </p:cNvPicPr>
          <p:nvPr/>
        </p:nvPicPr>
        <p:blipFill>
          <a:blip r:embed="rId3"/>
          <a:stretch>
            <a:fillRect/>
          </a:stretch>
        </p:blipFill>
        <p:spPr>
          <a:xfrm>
            <a:off x="713232" y="3867912"/>
            <a:ext cx="438912" cy="438912"/>
          </a:xfrm>
          <a:prstGeom prst="rect">
            <a:avLst/>
          </a:prstGeom>
        </p:spPr>
      </p:pic>
      <p:sp>
        <p:nvSpPr>
          <p:cNvPr id="18" name="Text 13"/>
          <p:cNvSpPr/>
          <p:nvPr/>
        </p:nvSpPr>
        <p:spPr>
          <a:xfrm>
            <a:off x="1417320" y="3703320"/>
            <a:ext cx="7040880" cy="32918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Native XLM Settlement</a:t>
            </a:r>
            <a:endParaRPr lang="en-US" sz="1400" dirty="0"/>
          </a:p>
        </p:txBody>
      </p:sp>
      <p:sp>
        <p:nvSpPr>
          <p:cNvPr id="19" name="Text 14"/>
          <p:cNvSpPr/>
          <p:nvPr/>
        </p:nvSpPr>
        <p:spPr>
          <a:xfrm>
            <a:off x="1417320" y="4069080"/>
            <a:ext cx="7040880" cy="402336"/>
          </a:xfrm>
          <a:prstGeom prst="rect">
            <a:avLst/>
          </a:prstGeom>
          <a:noFill/>
          <a:ln/>
        </p:spPr>
        <p:txBody>
          <a:bodyPr wrap="square" lIns="0" tIns="0" rIns="0" bIns="0" rtlCol="0" anchor="ctr"/>
          <a:lstStyle/>
          <a:p>
            <a:pPr indent="0" marL="0">
              <a:buNone/>
            </a:pPr>
            <a:r>
              <a:rPr lang="en-US" sz="1150" dirty="0">
                <a:solidFill>
                  <a:srgbClr val="94A3B8"/>
                </a:solidFill>
                <a:latin typeface="Calibri" pitchFamily="34" charset="0"/>
                <a:ea typeface="Calibri" pitchFamily="34" charset="-122"/>
                <a:cs typeface="Calibri" pitchFamily="34" charset="-120"/>
              </a:rPr>
              <a:t>Cross-border payments settle globally in seconds via Freighter Wallet — no banks, no delays.</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Text 1"/>
          <p:cNvSpPr/>
          <p:nvPr/>
        </p:nvSpPr>
        <p:spPr>
          <a:xfrm>
            <a:off x="457200" y="0"/>
            <a:ext cx="8229600" cy="1005840"/>
          </a:xfrm>
          <a:prstGeom prst="rect">
            <a:avLst/>
          </a:prstGeom>
          <a:noFill/>
          <a:ln/>
        </p:spPr>
        <p:txBody>
          <a:bodyPr wrap="square" lIns="0" tIns="0" rIns="0" bIns="0" rtlCol="0" anchor="ctr"/>
          <a:lstStyle/>
          <a:p>
            <a:pPr indent="0" marL="0">
              <a:buNone/>
            </a:pPr>
            <a:r>
              <a:rPr lang="en-US" sz="3200" b="1" dirty="0">
                <a:solidFill>
                  <a:srgbClr val="2DD4BF"/>
                </a:solidFill>
                <a:latin typeface="Cambria" pitchFamily="34" charset="0"/>
                <a:ea typeface="Cambria" pitchFamily="34" charset="-122"/>
                <a:cs typeface="Cambria" pitchFamily="34" charset="-120"/>
              </a:rPr>
              <a:t>MARKET OPPORTUNITY</a:t>
            </a:r>
            <a:endParaRPr lang="en-US" sz="3200" dirty="0"/>
          </a:p>
        </p:txBody>
      </p:sp>
      <p:sp>
        <p:nvSpPr>
          <p:cNvPr id="4" name="Shape 2"/>
          <p:cNvSpPr/>
          <p:nvPr/>
        </p:nvSpPr>
        <p:spPr>
          <a:xfrm>
            <a:off x="457200" y="1143000"/>
            <a:ext cx="3840480" cy="2286000"/>
          </a:xfrm>
          <a:prstGeom prst="roundRect">
            <a:avLst>
              <a:gd name="adj" fmla="val 6000"/>
            </a:avLst>
          </a:prstGeom>
          <a:solidFill>
            <a:srgbClr val="0F172A"/>
          </a:solidFill>
          <a:ln w="12700">
            <a:solidFill>
              <a:srgbClr val="6366F1"/>
            </a:solidFill>
            <a:prstDash val="solid"/>
          </a:ln>
          <a:effectLst>
            <a:outerShdw sx="100000" sy="100000" kx="0" ky="0" algn="bl" rotWithShape="0" blurRad="127000" dist="38100" dir="2700000">
              <a:srgbClr val="000000">
                <a:alpha val="12000"/>
              </a:srgbClr>
            </a:outerShdw>
          </a:effectLst>
        </p:spPr>
      </p:sp>
      <p:sp>
        <p:nvSpPr>
          <p:cNvPr id="5" name="Text 3"/>
          <p:cNvSpPr/>
          <p:nvPr/>
        </p:nvSpPr>
        <p:spPr>
          <a:xfrm>
            <a:off x="457200" y="1371600"/>
            <a:ext cx="3840480" cy="1005840"/>
          </a:xfrm>
          <a:prstGeom prst="rect">
            <a:avLst/>
          </a:prstGeom>
          <a:noFill/>
          <a:ln/>
        </p:spPr>
        <p:txBody>
          <a:bodyPr wrap="square" lIns="0" tIns="0" rIns="0" bIns="0" rtlCol="0" anchor="ctr"/>
          <a:lstStyle/>
          <a:p>
            <a:pPr algn="ctr" indent="0" marL="0">
              <a:buNone/>
            </a:pPr>
            <a:r>
              <a:rPr lang="en-US" sz="5200" b="1" dirty="0">
                <a:solidFill>
                  <a:srgbClr val="2DD4BF"/>
                </a:solidFill>
                <a:latin typeface="Cambria" pitchFamily="34" charset="0"/>
                <a:ea typeface="Cambria" pitchFamily="34" charset="-122"/>
                <a:cs typeface="Cambria" pitchFamily="34" charset="-120"/>
              </a:rPr>
              <a:t>$800B+</a:t>
            </a:r>
            <a:endParaRPr lang="en-US" sz="5200" dirty="0"/>
          </a:p>
        </p:txBody>
      </p:sp>
      <p:sp>
        <p:nvSpPr>
          <p:cNvPr id="6" name="Text 4"/>
          <p:cNvSpPr/>
          <p:nvPr/>
        </p:nvSpPr>
        <p:spPr>
          <a:xfrm>
            <a:off x="457200" y="2286000"/>
            <a:ext cx="3840480" cy="502920"/>
          </a:xfrm>
          <a:prstGeom prst="rect">
            <a:avLst/>
          </a:prstGeom>
          <a:noFill/>
          <a:ln/>
        </p:spPr>
        <p:txBody>
          <a:bodyPr wrap="square" lIns="0" tIns="0" rIns="0" bIns="0"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Global Remittance Market</a:t>
            </a:r>
            <a:endParaRPr lang="en-US" sz="1200" dirty="0"/>
          </a:p>
        </p:txBody>
      </p:sp>
      <p:sp>
        <p:nvSpPr>
          <p:cNvPr id="7" name="Text 5"/>
          <p:cNvSpPr/>
          <p:nvPr/>
        </p:nvSpPr>
        <p:spPr>
          <a:xfrm>
            <a:off x="457200" y="2743200"/>
            <a:ext cx="3840480" cy="411480"/>
          </a:xfrm>
          <a:prstGeom prst="rect">
            <a:avLst/>
          </a:prstGeom>
          <a:noFill/>
          <a:ln/>
        </p:spPr>
        <p:txBody>
          <a:bodyPr wrap="square" lIns="0" tIns="0" rIns="0" bIns="0" rtlCol="0" anchor="ctr"/>
          <a:lstStyle/>
          <a:p>
            <a:pPr algn="ctr" indent="0" marL="0">
              <a:buNone/>
            </a:pPr>
            <a:r>
              <a:rPr lang="en-US" sz="1000" i="1" dirty="0">
                <a:solidFill>
                  <a:srgbClr val="94A3B8"/>
                </a:solidFill>
                <a:latin typeface="Calibri" pitchFamily="34" charset="0"/>
                <a:ea typeface="Calibri" pitchFamily="34" charset="-122"/>
                <a:cs typeface="Calibri" pitchFamily="34" charset="-120"/>
              </a:rPr>
              <a:t>yet NO casual P2P group settlement</a:t>
            </a:r>
            <a:endParaRPr lang="en-US" sz="1000" dirty="0"/>
          </a:p>
        </p:txBody>
      </p:sp>
      <p:sp>
        <p:nvSpPr>
          <p:cNvPr id="8" name="Shape 6"/>
          <p:cNvSpPr/>
          <p:nvPr/>
        </p:nvSpPr>
        <p:spPr>
          <a:xfrm>
            <a:off x="4754880" y="1143000"/>
            <a:ext cx="1920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27000" dist="38100" dir="2700000">
              <a:srgbClr val="000000">
                <a:alpha val="12000"/>
              </a:srgbClr>
            </a:outerShdw>
          </a:effectLst>
        </p:spPr>
      </p:sp>
      <p:sp>
        <p:nvSpPr>
          <p:cNvPr id="9" name="Text 7"/>
          <p:cNvSpPr/>
          <p:nvPr/>
        </p:nvSpPr>
        <p:spPr>
          <a:xfrm>
            <a:off x="4754880" y="1216152"/>
            <a:ext cx="19202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4754880" y="1691640"/>
            <a:ext cx="1920240" cy="347472"/>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International Students</a:t>
            </a:r>
            <a:endParaRPr lang="en-US" sz="1000" dirty="0"/>
          </a:p>
        </p:txBody>
      </p:sp>
      <p:sp>
        <p:nvSpPr>
          <p:cNvPr id="11" name="Shape 9"/>
          <p:cNvSpPr/>
          <p:nvPr/>
        </p:nvSpPr>
        <p:spPr>
          <a:xfrm>
            <a:off x="6858000" y="1143000"/>
            <a:ext cx="1920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27000" dist="38100" dir="2700000">
              <a:srgbClr val="000000">
                <a:alpha val="12000"/>
              </a:srgbClr>
            </a:outerShdw>
          </a:effectLst>
        </p:spPr>
      </p:sp>
      <p:sp>
        <p:nvSpPr>
          <p:cNvPr id="12" name="Text 10"/>
          <p:cNvSpPr/>
          <p:nvPr/>
        </p:nvSpPr>
        <p:spPr>
          <a:xfrm>
            <a:off x="6858000" y="1216152"/>
            <a:ext cx="19202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3" name="Text 11"/>
          <p:cNvSpPr/>
          <p:nvPr/>
        </p:nvSpPr>
        <p:spPr>
          <a:xfrm>
            <a:off x="6858000" y="1691640"/>
            <a:ext cx="1920240" cy="347472"/>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Remote Teams</a:t>
            </a:r>
            <a:endParaRPr lang="en-US" sz="1000" dirty="0"/>
          </a:p>
        </p:txBody>
      </p:sp>
      <p:sp>
        <p:nvSpPr>
          <p:cNvPr id="14" name="Shape 12"/>
          <p:cNvSpPr/>
          <p:nvPr/>
        </p:nvSpPr>
        <p:spPr>
          <a:xfrm>
            <a:off x="4754880" y="2331720"/>
            <a:ext cx="1920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27000" dist="38100" dir="2700000">
              <a:srgbClr val="000000">
                <a:alpha val="12000"/>
              </a:srgbClr>
            </a:outerShdw>
          </a:effectLst>
        </p:spPr>
      </p:sp>
      <p:sp>
        <p:nvSpPr>
          <p:cNvPr id="15" name="Text 13"/>
          <p:cNvSpPr/>
          <p:nvPr/>
        </p:nvSpPr>
        <p:spPr>
          <a:xfrm>
            <a:off x="4754880" y="2404872"/>
            <a:ext cx="19202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4754880" y="2880360"/>
            <a:ext cx="1920240" cy="347472"/>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Digital Nomads</a:t>
            </a:r>
            <a:endParaRPr lang="en-US" sz="1000" dirty="0"/>
          </a:p>
        </p:txBody>
      </p:sp>
      <p:sp>
        <p:nvSpPr>
          <p:cNvPr id="17" name="Shape 15"/>
          <p:cNvSpPr/>
          <p:nvPr/>
        </p:nvSpPr>
        <p:spPr>
          <a:xfrm>
            <a:off x="6858000" y="2331720"/>
            <a:ext cx="1920240" cy="1005840"/>
          </a:xfrm>
          <a:prstGeom prst="roundRect">
            <a:avLst>
              <a:gd name="adj" fmla="val 10909"/>
            </a:avLst>
          </a:prstGeom>
          <a:solidFill>
            <a:srgbClr val="FFFFFF"/>
          </a:solidFill>
          <a:ln w="12700">
            <a:solidFill>
              <a:srgbClr val="E2E8F0"/>
            </a:solidFill>
            <a:prstDash val="solid"/>
          </a:ln>
          <a:effectLst>
            <a:outerShdw sx="100000" sy="100000" kx="0" ky="0" algn="bl" rotWithShape="0" blurRad="127000" dist="38100" dir="2700000">
              <a:srgbClr val="000000">
                <a:alpha val="12000"/>
              </a:srgbClr>
            </a:outerShdw>
          </a:effectLst>
        </p:spPr>
      </p:sp>
      <p:sp>
        <p:nvSpPr>
          <p:cNvPr id="18" name="Text 16"/>
          <p:cNvSpPr/>
          <p:nvPr/>
        </p:nvSpPr>
        <p:spPr>
          <a:xfrm>
            <a:off x="6858000" y="2404872"/>
            <a:ext cx="192024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6858000" y="2880360"/>
            <a:ext cx="1920240" cy="347472"/>
          </a:xfrm>
          <a:prstGeom prst="rect">
            <a:avLst/>
          </a:prstGeom>
          <a:noFill/>
          <a:ln/>
        </p:spPr>
        <p:txBody>
          <a:bodyPr wrap="square" lIns="0" tIns="0" rIns="0" bIns="0" rtlCol="0" anchor="ctr"/>
          <a:lstStyle/>
          <a:p>
            <a:pPr algn="ctr" indent="0" marL="0">
              <a:buNone/>
            </a:pPr>
            <a:r>
              <a:rPr lang="en-US" sz="1000" b="1" dirty="0">
                <a:solidFill>
                  <a:srgbClr val="0F172A"/>
                </a:solidFill>
                <a:latin typeface="Calibri" pitchFamily="34" charset="0"/>
                <a:ea typeface="Calibri" pitchFamily="34" charset="-122"/>
                <a:cs typeface="Calibri" pitchFamily="34" charset="-120"/>
              </a:rPr>
              <a:t>Group Travelers</a:t>
            </a:r>
            <a:endParaRPr lang="en-US" sz="1000" dirty="0"/>
          </a:p>
        </p:txBody>
      </p:sp>
      <p:sp>
        <p:nvSpPr>
          <p:cNvPr id="20" name="Text 18"/>
          <p:cNvSpPr/>
          <p:nvPr/>
        </p:nvSpPr>
        <p:spPr>
          <a:xfrm>
            <a:off x="457200" y="3657600"/>
            <a:ext cx="8229600" cy="594360"/>
          </a:xfrm>
          <a:prstGeom prst="rect">
            <a:avLst/>
          </a:prstGeom>
          <a:noFill/>
          <a:ln/>
        </p:spPr>
        <p:txBody>
          <a:bodyPr wrap="square"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Our initial target market consists of international students and remote teams — a massive gap where traditional remittance ignores casual day-to-day group expenses.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2DD4BF"/>
                </a:solidFill>
                <a:latin typeface="Cambria" pitchFamily="34" charset="0"/>
                <a:ea typeface="Cambria" pitchFamily="34" charset="-122"/>
                <a:cs typeface="Cambria" pitchFamily="34" charset="-120"/>
              </a:rPr>
              <a:t>ARCHITECTURE</a:t>
            </a:r>
            <a:endParaRPr lang="en-US" sz="3200" dirty="0"/>
          </a:p>
        </p:txBody>
      </p:sp>
      <p:sp>
        <p:nvSpPr>
          <p:cNvPr id="3" name="Text 1"/>
          <p:cNvSpPr/>
          <p:nvPr/>
        </p:nvSpPr>
        <p:spPr>
          <a:xfrm>
            <a:off x="457200" y="749808"/>
            <a:ext cx="8229600" cy="347472"/>
          </a:xfrm>
          <a:prstGeom prst="rect">
            <a:avLst/>
          </a:prstGeom>
          <a:noFill/>
          <a:ln/>
        </p:spPr>
        <p:txBody>
          <a:bodyPr wrap="square"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Modern, robust, fully on-chain</a:t>
            </a:r>
            <a:endParaRPr lang="en-US" sz="1300" dirty="0"/>
          </a:p>
        </p:txBody>
      </p:sp>
      <p:sp>
        <p:nvSpPr>
          <p:cNvPr id="4" name="Shape 2"/>
          <p:cNvSpPr/>
          <p:nvPr/>
        </p:nvSpPr>
        <p:spPr>
          <a:xfrm>
            <a:off x="320040" y="1417320"/>
            <a:ext cx="1463040" cy="1325880"/>
          </a:xfrm>
          <a:prstGeom prst="roundRect">
            <a:avLst>
              <a:gd name="adj" fmla="val 8276"/>
            </a:avLst>
          </a:prstGeom>
          <a:solidFill>
            <a:srgbClr val="1E293B"/>
          </a:solidFill>
          <a:ln w="25400">
            <a:solidFill>
              <a:srgbClr val="6366F1"/>
            </a:solidFill>
            <a:prstDash val="solid"/>
          </a:ln>
          <a:effectLst>
            <a:outerShdw sx="100000" sy="100000" kx="0" ky="0" algn="bl" rotWithShape="0" blurRad="127000" dist="38100" dir="2700000">
              <a:srgbClr val="000000">
                <a:alpha val="12000"/>
              </a:srgbClr>
            </a:outerShdw>
          </a:effectLst>
        </p:spPr>
      </p:sp>
      <p:sp>
        <p:nvSpPr>
          <p:cNvPr id="5" name="Shape 3"/>
          <p:cNvSpPr/>
          <p:nvPr/>
        </p:nvSpPr>
        <p:spPr>
          <a:xfrm>
            <a:off x="758952" y="1508760"/>
            <a:ext cx="585216" cy="585216"/>
          </a:xfrm>
          <a:prstGeom prst="ellipse">
            <a:avLst/>
          </a:prstGeom>
          <a:solidFill>
            <a:srgbClr val="6366F1">
              <a:alpha val="75000"/>
            </a:srgbClr>
          </a:solidFill>
          <a:ln w="12700">
            <a:solidFill>
              <a:srgbClr val="6366F1"/>
            </a:solidFill>
            <a:prstDash val="solid"/>
          </a:ln>
        </p:spPr>
      </p:sp>
      <p:sp>
        <p:nvSpPr>
          <p:cNvPr id="6" name="Text 4"/>
          <p:cNvSpPr/>
          <p:nvPr/>
        </p:nvSpPr>
        <p:spPr>
          <a:xfrm>
            <a:off x="320040" y="2148840"/>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User</a:t>
            </a:r>
            <a:endParaRPr lang="en-US" sz="1100" dirty="0"/>
          </a:p>
        </p:txBody>
      </p:sp>
      <p:sp>
        <p:nvSpPr>
          <p:cNvPr id="7" name="Text 5"/>
          <p:cNvSpPr/>
          <p:nvPr/>
        </p:nvSpPr>
        <p:spPr>
          <a:xfrm>
            <a:off x="320040" y="2468880"/>
            <a:ext cx="1463040"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International Groups</a:t>
            </a:r>
            <a:endParaRPr lang="en-US" sz="850" dirty="0"/>
          </a:p>
        </p:txBody>
      </p:sp>
      <p:sp>
        <p:nvSpPr>
          <p:cNvPr id="8" name="Shape 6"/>
          <p:cNvSpPr/>
          <p:nvPr/>
        </p:nvSpPr>
        <p:spPr>
          <a:xfrm>
            <a:off x="1783080" y="2084832"/>
            <a:ext cx="256032" cy="0"/>
          </a:xfrm>
          <a:prstGeom prst="line">
            <a:avLst/>
          </a:prstGeom>
          <a:noFill/>
          <a:ln w="25400">
            <a:solidFill>
              <a:srgbClr val="2DD4BF"/>
            </a:solidFill>
            <a:prstDash val="solid"/>
          </a:ln>
        </p:spPr>
      </p:sp>
      <p:sp>
        <p:nvSpPr>
          <p:cNvPr id="9" name="Text 7"/>
          <p:cNvSpPr/>
          <p:nvPr/>
        </p:nvSpPr>
        <p:spPr>
          <a:xfrm>
            <a:off x="1801368" y="1965960"/>
            <a:ext cx="237744" cy="274320"/>
          </a:xfrm>
          <a:prstGeom prst="rect">
            <a:avLst/>
          </a:prstGeom>
          <a:noFill/>
          <a:ln/>
        </p:spPr>
        <p:txBody>
          <a:bodyPr wrap="square" lIns="0" tIns="0" rIns="0" bIns="0" rtlCol="0" anchor="ctr"/>
          <a:lstStyle/>
          <a:p>
            <a:pPr indent="0" marL="0">
              <a:buNone/>
            </a:pPr>
            <a:r>
              <a:rPr lang="en-US" sz="1200" dirty="0">
                <a:solidFill>
                  <a:srgbClr val="2DD4BF"/>
                </a:solidFill>
              </a:rPr>
              <a:t>→</a:t>
            </a:r>
            <a:endParaRPr lang="en-US" sz="1200" dirty="0"/>
          </a:p>
        </p:txBody>
      </p:sp>
      <p:sp>
        <p:nvSpPr>
          <p:cNvPr id="10" name="Shape 8"/>
          <p:cNvSpPr/>
          <p:nvPr/>
        </p:nvSpPr>
        <p:spPr>
          <a:xfrm>
            <a:off x="2039112" y="1417320"/>
            <a:ext cx="1463040" cy="1325880"/>
          </a:xfrm>
          <a:prstGeom prst="roundRect">
            <a:avLst>
              <a:gd name="adj" fmla="val 8276"/>
            </a:avLst>
          </a:prstGeom>
          <a:solidFill>
            <a:srgbClr val="1E293B"/>
          </a:solidFill>
          <a:ln w="25400">
            <a:solidFill>
              <a:srgbClr val="0891B2"/>
            </a:solidFill>
            <a:prstDash val="solid"/>
          </a:ln>
          <a:effectLst>
            <a:outerShdw sx="100000" sy="100000" kx="0" ky="0" algn="bl" rotWithShape="0" blurRad="127000" dist="38100" dir="2700000">
              <a:srgbClr val="000000">
                <a:alpha val="12000"/>
              </a:srgbClr>
            </a:outerShdw>
          </a:effectLst>
        </p:spPr>
      </p:sp>
      <p:sp>
        <p:nvSpPr>
          <p:cNvPr id="11" name="Shape 9"/>
          <p:cNvSpPr/>
          <p:nvPr/>
        </p:nvSpPr>
        <p:spPr>
          <a:xfrm>
            <a:off x="2478024" y="1508760"/>
            <a:ext cx="585216" cy="585216"/>
          </a:xfrm>
          <a:prstGeom prst="ellipse">
            <a:avLst/>
          </a:prstGeom>
          <a:solidFill>
            <a:srgbClr val="0891B2">
              <a:alpha val="75000"/>
            </a:srgbClr>
          </a:solidFill>
          <a:ln w="12700">
            <a:solidFill>
              <a:srgbClr val="0891B2"/>
            </a:solidFill>
            <a:prstDash val="solid"/>
          </a:ln>
        </p:spPr>
      </p:sp>
      <p:sp>
        <p:nvSpPr>
          <p:cNvPr id="12" name="Text 10"/>
          <p:cNvSpPr/>
          <p:nvPr/>
        </p:nvSpPr>
        <p:spPr>
          <a:xfrm>
            <a:off x="2039112" y="2148840"/>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Next.js 14</a:t>
            </a:r>
            <a:endParaRPr lang="en-US" sz="1100" dirty="0"/>
          </a:p>
        </p:txBody>
      </p:sp>
      <p:sp>
        <p:nvSpPr>
          <p:cNvPr id="13" name="Text 11"/>
          <p:cNvSpPr/>
          <p:nvPr/>
        </p:nvSpPr>
        <p:spPr>
          <a:xfrm>
            <a:off x="2039112" y="2468880"/>
            <a:ext cx="1463040"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Tailwind · Vercel</a:t>
            </a:r>
            <a:endParaRPr lang="en-US" sz="850" dirty="0"/>
          </a:p>
        </p:txBody>
      </p:sp>
      <p:sp>
        <p:nvSpPr>
          <p:cNvPr id="14" name="Shape 12"/>
          <p:cNvSpPr/>
          <p:nvPr/>
        </p:nvSpPr>
        <p:spPr>
          <a:xfrm>
            <a:off x="3502152" y="2084832"/>
            <a:ext cx="256032" cy="0"/>
          </a:xfrm>
          <a:prstGeom prst="line">
            <a:avLst/>
          </a:prstGeom>
          <a:noFill/>
          <a:ln w="25400">
            <a:solidFill>
              <a:srgbClr val="2DD4BF"/>
            </a:solidFill>
            <a:prstDash val="solid"/>
          </a:ln>
        </p:spPr>
      </p:sp>
      <p:sp>
        <p:nvSpPr>
          <p:cNvPr id="15" name="Text 13"/>
          <p:cNvSpPr/>
          <p:nvPr/>
        </p:nvSpPr>
        <p:spPr>
          <a:xfrm>
            <a:off x="3520440" y="1965960"/>
            <a:ext cx="237744" cy="274320"/>
          </a:xfrm>
          <a:prstGeom prst="rect">
            <a:avLst/>
          </a:prstGeom>
          <a:noFill/>
          <a:ln/>
        </p:spPr>
        <p:txBody>
          <a:bodyPr wrap="square" lIns="0" tIns="0" rIns="0" bIns="0" rtlCol="0" anchor="ctr"/>
          <a:lstStyle/>
          <a:p>
            <a:pPr indent="0" marL="0">
              <a:buNone/>
            </a:pPr>
            <a:r>
              <a:rPr lang="en-US" sz="1200" dirty="0">
                <a:solidFill>
                  <a:srgbClr val="2DD4BF"/>
                </a:solidFill>
              </a:rPr>
              <a:t>→</a:t>
            </a:r>
            <a:endParaRPr lang="en-US" sz="1200" dirty="0"/>
          </a:p>
        </p:txBody>
      </p:sp>
      <p:sp>
        <p:nvSpPr>
          <p:cNvPr id="16" name="Shape 14"/>
          <p:cNvSpPr/>
          <p:nvPr/>
        </p:nvSpPr>
        <p:spPr>
          <a:xfrm>
            <a:off x="3758184" y="1417320"/>
            <a:ext cx="1463040" cy="1325880"/>
          </a:xfrm>
          <a:prstGeom prst="roundRect">
            <a:avLst>
              <a:gd name="adj" fmla="val 8276"/>
            </a:avLst>
          </a:prstGeom>
          <a:solidFill>
            <a:srgbClr val="1E293B"/>
          </a:solidFill>
          <a:ln w="25400">
            <a:solidFill>
              <a:srgbClr val="7C3AED"/>
            </a:solidFill>
            <a:prstDash val="solid"/>
          </a:ln>
          <a:effectLst>
            <a:outerShdw sx="100000" sy="100000" kx="0" ky="0" algn="bl" rotWithShape="0" blurRad="127000" dist="38100" dir="2700000">
              <a:srgbClr val="000000">
                <a:alpha val="12000"/>
              </a:srgbClr>
            </a:outerShdw>
          </a:effectLst>
        </p:spPr>
      </p:sp>
      <p:sp>
        <p:nvSpPr>
          <p:cNvPr id="17" name="Shape 15"/>
          <p:cNvSpPr/>
          <p:nvPr/>
        </p:nvSpPr>
        <p:spPr>
          <a:xfrm>
            <a:off x="4197096" y="1508760"/>
            <a:ext cx="585216" cy="585216"/>
          </a:xfrm>
          <a:prstGeom prst="ellipse">
            <a:avLst/>
          </a:prstGeom>
          <a:solidFill>
            <a:srgbClr val="7C3AED">
              <a:alpha val="75000"/>
            </a:srgbClr>
          </a:solidFill>
          <a:ln w="12700">
            <a:solidFill>
              <a:srgbClr val="7C3AED"/>
            </a:solidFill>
            <a:prstDash val="solid"/>
          </a:ln>
        </p:spPr>
      </p:sp>
      <p:sp>
        <p:nvSpPr>
          <p:cNvPr id="18" name="Text 16"/>
          <p:cNvSpPr/>
          <p:nvPr/>
        </p:nvSpPr>
        <p:spPr>
          <a:xfrm>
            <a:off x="3758184" y="2148840"/>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Freighter</a:t>
            </a:r>
            <a:endParaRPr lang="en-US" sz="1100" dirty="0"/>
          </a:p>
        </p:txBody>
      </p:sp>
      <p:sp>
        <p:nvSpPr>
          <p:cNvPr id="19" name="Text 17"/>
          <p:cNvSpPr/>
          <p:nvPr/>
        </p:nvSpPr>
        <p:spPr>
          <a:xfrm>
            <a:off x="3758184" y="2468880"/>
            <a:ext cx="1463040"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Wallet Integration</a:t>
            </a:r>
            <a:endParaRPr lang="en-US" sz="850" dirty="0"/>
          </a:p>
        </p:txBody>
      </p:sp>
      <p:sp>
        <p:nvSpPr>
          <p:cNvPr id="20" name="Shape 18"/>
          <p:cNvSpPr/>
          <p:nvPr/>
        </p:nvSpPr>
        <p:spPr>
          <a:xfrm>
            <a:off x="5221224" y="2084832"/>
            <a:ext cx="256032" cy="0"/>
          </a:xfrm>
          <a:prstGeom prst="line">
            <a:avLst/>
          </a:prstGeom>
          <a:noFill/>
          <a:ln w="25400">
            <a:solidFill>
              <a:srgbClr val="2DD4BF"/>
            </a:solidFill>
            <a:prstDash val="solid"/>
          </a:ln>
        </p:spPr>
      </p:sp>
      <p:sp>
        <p:nvSpPr>
          <p:cNvPr id="21" name="Text 19"/>
          <p:cNvSpPr/>
          <p:nvPr/>
        </p:nvSpPr>
        <p:spPr>
          <a:xfrm>
            <a:off x="5239512" y="1965960"/>
            <a:ext cx="237744" cy="274320"/>
          </a:xfrm>
          <a:prstGeom prst="rect">
            <a:avLst/>
          </a:prstGeom>
          <a:noFill/>
          <a:ln/>
        </p:spPr>
        <p:txBody>
          <a:bodyPr wrap="square" lIns="0" tIns="0" rIns="0" bIns="0" rtlCol="0" anchor="ctr"/>
          <a:lstStyle/>
          <a:p>
            <a:pPr indent="0" marL="0">
              <a:buNone/>
            </a:pPr>
            <a:r>
              <a:rPr lang="en-US" sz="1200" dirty="0">
                <a:solidFill>
                  <a:srgbClr val="2DD4BF"/>
                </a:solidFill>
              </a:rPr>
              <a:t>→</a:t>
            </a:r>
            <a:endParaRPr lang="en-US" sz="1200" dirty="0"/>
          </a:p>
        </p:txBody>
      </p:sp>
      <p:sp>
        <p:nvSpPr>
          <p:cNvPr id="22" name="Shape 20"/>
          <p:cNvSpPr/>
          <p:nvPr/>
        </p:nvSpPr>
        <p:spPr>
          <a:xfrm>
            <a:off x="5477256" y="1417320"/>
            <a:ext cx="1463040" cy="1325880"/>
          </a:xfrm>
          <a:prstGeom prst="roundRect">
            <a:avLst>
              <a:gd name="adj" fmla="val 8276"/>
            </a:avLst>
          </a:prstGeom>
          <a:solidFill>
            <a:srgbClr val="1E293B"/>
          </a:solidFill>
          <a:ln w="25400">
            <a:solidFill>
              <a:srgbClr val="2DD4BF"/>
            </a:solidFill>
            <a:prstDash val="solid"/>
          </a:ln>
          <a:effectLst>
            <a:outerShdw sx="100000" sy="100000" kx="0" ky="0" algn="bl" rotWithShape="0" blurRad="127000" dist="38100" dir="2700000">
              <a:srgbClr val="000000">
                <a:alpha val="12000"/>
              </a:srgbClr>
            </a:outerShdw>
          </a:effectLst>
        </p:spPr>
      </p:sp>
      <p:sp>
        <p:nvSpPr>
          <p:cNvPr id="23" name="Shape 21"/>
          <p:cNvSpPr/>
          <p:nvPr/>
        </p:nvSpPr>
        <p:spPr>
          <a:xfrm>
            <a:off x="5916168" y="1508760"/>
            <a:ext cx="585216" cy="585216"/>
          </a:xfrm>
          <a:prstGeom prst="ellipse">
            <a:avLst/>
          </a:prstGeom>
          <a:solidFill>
            <a:srgbClr val="2DD4BF">
              <a:alpha val="75000"/>
            </a:srgbClr>
          </a:solidFill>
          <a:ln w="12700">
            <a:solidFill>
              <a:srgbClr val="2DD4BF"/>
            </a:solidFill>
            <a:prstDash val="solid"/>
          </a:ln>
        </p:spPr>
      </p:sp>
      <p:sp>
        <p:nvSpPr>
          <p:cNvPr id="24" name="Text 22"/>
          <p:cNvSpPr/>
          <p:nvPr/>
        </p:nvSpPr>
        <p:spPr>
          <a:xfrm>
            <a:off x="5477256" y="2148840"/>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Soroban</a:t>
            </a:r>
            <a:endParaRPr lang="en-US" sz="1100" dirty="0"/>
          </a:p>
        </p:txBody>
      </p:sp>
      <p:sp>
        <p:nvSpPr>
          <p:cNvPr id="25" name="Text 23"/>
          <p:cNvSpPr/>
          <p:nvPr/>
        </p:nvSpPr>
        <p:spPr>
          <a:xfrm>
            <a:off x="5477256" y="2468880"/>
            <a:ext cx="1463040"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Rust Smart Contract</a:t>
            </a:r>
            <a:endParaRPr lang="en-US" sz="850" dirty="0"/>
          </a:p>
        </p:txBody>
      </p:sp>
      <p:sp>
        <p:nvSpPr>
          <p:cNvPr id="26" name="Shape 24"/>
          <p:cNvSpPr/>
          <p:nvPr/>
        </p:nvSpPr>
        <p:spPr>
          <a:xfrm>
            <a:off x="6940296" y="2084832"/>
            <a:ext cx="256032" cy="0"/>
          </a:xfrm>
          <a:prstGeom prst="line">
            <a:avLst/>
          </a:prstGeom>
          <a:noFill/>
          <a:ln w="25400">
            <a:solidFill>
              <a:srgbClr val="2DD4BF"/>
            </a:solidFill>
            <a:prstDash val="solid"/>
          </a:ln>
        </p:spPr>
      </p:sp>
      <p:sp>
        <p:nvSpPr>
          <p:cNvPr id="27" name="Text 25"/>
          <p:cNvSpPr/>
          <p:nvPr/>
        </p:nvSpPr>
        <p:spPr>
          <a:xfrm>
            <a:off x="6958584" y="1965960"/>
            <a:ext cx="237744" cy="274320"/>
          </a:xfrm>
          <a:prstGeom prst="rect">
            <a:avLst/>
          </a:prstGeom>
          <a:noFill/>
          <a:ln/>
        </p:spPr>
        <p:txBody>
          <a:bodyPr wrap="square" lIns="0" tIns="0" rIns="0" bIns="0" rtlCol="0" anchor="ctr"/>
          <a:lstStyle/>
          <a:p>
            <a:pPr indent="0" marL="0">
              <a:buNone/>
            </a:pPr>
            <a:r>
              <a:rPr lang="en-US" sz="1200" dirty="0">
                <a:solidFill>
                  <a:srgbClr val="2DD4BF"/>
                </a:solidFill>
              </a:rPr>
              <a:t>→</a:t>
            </a:r>
            <a:endParaRPr lang="en-US" sz="1200" dirty="0"/>
          </a:p>
        </p:txBody>
      </p:sp>
      <p:sp>
        <p:nvSpPr>
          <p:cNvPr id="28" name="Shape 26"/>
          <p:cNvSpPr/>
          <p:nvPr/>
        </p:nvSpPr>
        <p:spPr>
          <a:xfrm>
            <a:off x="7196328" y="1417320"/>
            <a:ext cx="1463040" cy="1325880"/>
          </a:xfrm>
          <a:prstGeom prst="roundRect">
            <a:avLst>
              <a:gd name="adj" fmla="val 8276"/>
            </a:avLst>
          </a:prstGeom>
          <a:solidFill>
            <a:srgbClr val="1E293B"/>
          </a:solidFill>
          <a:ln w="25400">
            <a:solidFill>
              <a:srgbClr val="F59E0B"/>
            </a:solidFill>
            <a:prstDash val="solid"/>
          </a:ln>
          <a:effectLst>
            <a:outerShdw sx="100000" sy="100000" kx="0" ky="0" algn="bl" rotWithShape="0" blurRad="127000" dist="38100" dir="2700000">
              <a:srgbClr val="000000">
                <a:alpha val="12000"/>
              </a:srgbClr>
            </a:outerShdw>
          </a:effectLst>
        </p:spPr>
      </p:sp>
      <p:sp>
        <p:nvSpPr>
          <p:cNvPr id="29" name="Shape 27"/>
          <p:cNvSpPr/>
          <p:nvPr/>
        </p:nvSpPr>
        <p:spPr>
          <a:xfrm>
            <a:off x="7635240" y="1508760"/>
            <a:ext cx="585216" cy="585216"/>
          </a:xfrm>
          <a:prstGeom prst="ellipse">
            <a:avLst/>
          </a:prstGeom>
          <a:solidFill>
            <a:srgbClr val="F59E0B">
              <a:alpha val="75000"/>
            </a:srgbClr>
          </a:solidFill>
          <a:ln w="12700">
            <a:solidFill>
              <a:srgbClr val="F59E0B"/>
            </a:solidFill>
            <a:prstDash val="solid"/>
          </a:ln>
        </p:spPr>
      </p:sp>
      <p:sp>
        <p:nvSpPr>
          <p:cNvPr id="30" name="Text 28"/>
          <p:cNvSpPr/>
          <p:nvPr/>
        </p:nvSpPr>
        <p:spPr>
          <a:xfrm>
            <a:off x="7196328" y="2148840"/>
            <a:ext cx="146304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Stellar</a:t>
            </a:r>
            <a:endParaRPr lang="en-US" sz="1100" dirty="0"/>
          </a:p>
        </p:txBody>
      </p:sp>
      <p:sp>
        <p:nvSpPr>
          <p:cNvPr id="31" name="Text 29"/>
          <p:cNvSpPr/>
          <p:nvPr/>
        </p:nvSpPr>
        <p:spPr>
          <a:xfrm>
            <a:off x="7196328" y="2468880"/>
            <a:ext cx="1463040" cy="22860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Testnet / Mainnet</a:t>
            </a:r>
            <a:endParaRPr lang="en-US" sz="850" dirty="0"/>
          </a:p>
        </p:txBody>
      </p:sp>
      <p:sp>
        <p:nvSpPr>
          <p:cNvPr id="32" name="Shape 30"/>
          <p:cNvSpPr/>
          <p:nvPr/>
        </p:nvSpPr>
        <p:spPr>
          <a:xfrm>
            <a:off x="457200" y="3154680"/>
            <a:ext cx="8229600" cy="475488"/>
          </a:xfrm>
          <a:prstGeom prst="roundRect">
            <a:avLst>
              <a:gd name="adj" fmla="val 15385"/>
            </a:avLst>
          </a:prstGeom>
          <a:solidFill>
            <a:srgbClr val="1E293B"/>
          </a:solidFill>
          <a:ln w="12700">
            <a:solidFill>
              <a:srgbClr val="2D3F55"/>
            </a:solidFill>
            <a:prstDash val="solid"/>
          </a:ln>
        </p:spPr>
      </p:sp>
      <p:sp>
        <p:nvSpPr>
          <p:cNvPr id="33" name="Text 31"/>
          <p:cNvSpPr/>
          <p:nvPr/>
        </p:nvSpPr>
        <p:spPr>
          <a:xfrm>
            <a:off x="594360" y="3154680"/>
            <a:ext cx="1463040" cy="475488"/>
          </a:xfrm>
          <a:prstGeom prst="rect">
            <a:avLst/>
          </a:prstGeom>
          <a:noFill/>
          <a:ln/>
        </p:spPr>
        <p:txBody>
          <a:bodyPr wrap="square" lIns="0" tIns="0" rIns="0" bIns="0" rtlCol="0" anchor="ctr"/>
          <a:lstStyle/>
          <a:p>
            <a:pPr indent="0" marL="0">
              <a:buNone/>
            </a:pPr>
            <a:r>
              <a:rPr lang="en-US" sz="1100" b="1" dirty="0">
                <a:solidFill>
                  <a:srgbClr val="2DD4BF"/>
                </a:solidFill>
                <a:latin typeface="Calibri" pitchFamily="34" charset="0"/>
                <a:ea typeface="Calibri" pitchFamily="34" charset="-122"/>
                <a:cs typeface="Calibri" pitchFamily="34" charset="-120"/>
              </a:rPr>
              <a:t>Frontend:</a:t>
            </a:r>
            <a:endParaRPr lang="en-US" sz="1100" dirty="0"/>
          </a:p>
        </p:txBody>
      </p:sp>
      <p:sp>
        <p:nvSpPr>
          <p:cNvPr id="34" name="Text 32"/>
          <p:cNvSpPr/>
          <p:nvPr/>
        </p:nvSpPr>
        <p:spPr>
          <a:xfrm>
            <a:off x="2148840" y="3154680"/>
            <a:ext cx="6400800" cy="4754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Next.js 14 · Tailwind CSS · Vercel</a:t>
            </a:r>
            <a:endParaRPr lang="en-US" sz="1100" dirty="0"/>
          </a:p>
        </p:txBody>
      </p:sp>
      <p:sp>
        <p:nvSpPr>
          <p:cNvPr id="35" name="Shape 33"/>
          <p:cNvSpPr/>
          <p:nvPr/>
        </p:nvSpPr>
        <p:spPr>
          <a:xfrm>
            <a:off x="457200" y="3721608"/>
            <a:ext cx="8229600" cy="475488"/>
          </a:xfrm>
          <a:prstGeom prst="roundRect">
            <a:avLst>
              <a:gd name="adj" fmla="val 15385"/>
            </a:avLst>
          </a:prstGeom>
          <a:solidFill>
            <a:srgbClr val="1E293B"/>
          </a:solidFill>
          <a:ln w="12700">
            <a:solidFill>
              <a:srgbClr val="2D3F55"/>
            </a:solidFill>
            <a:prstDash val="solid"/>
          </a:ln>
        </p:spPr>
      </p:sp>
      <p:sp>
        <p:nvSpPr>
          <p:cNvPr id="36" name="Text 34"/>
          <p:cNvSpPr/>
          <p:nvPr/>
        </p:nvSpPr>
        <p:spPr>
          <a:xfrm>
            <a:off x="594360" y="3721608"/>
            <a:ext cx="1463040" cy="475488"/>
          </a:xfrm>
          <a:prstGeom prst="rect">
            <a:avLst/>
          </a:prstGeom>
          <a:noFill/>
          <a:ln/>
        </p:spPr>
        <p:txBody>
          <a:bodyPr wrap="square" lIns="0" tIns="0" rIns="0" bIns="0" rtlCol="0" anchor="ctr"/>
          <a:lstStyle/>
          <a:p>
            <a:pPr indent="0" marL="0">
              <a:buNone/>
            </a:pPr>
            <a:r>
              <a:rPr lang="en-US" sz="1100" b="1" dirty="0">
                <a:solidFill>
                  <a:srgbClr val="2DD4BF"/>
                </a:solidFill>
                <a:latin typeface="Calibri" pitchFamily="34" charset="0"/>
                <a:ea typeface="Calibri" pitchFamily="34" charset="-122"/>
                <a:cs typeface="Calibri" pitchFamily="34" charset="-120"/>
              </a:rPr>
              <a:t>Smart Contract:</a:t>
            </a:r>
            <a:endParaRPr lang="en-US" sz="1100" dirty="0"/>
          </a:p>
        </p:txBody>
      </p:sp>
      <p:sp>
        <p:nvSpPr>
          <p:cNvPr id="37" name="Text 35"/>
          <p:cNvSpPr/>
          <p:nvPr/>
        </p:nvSpPr>
        <p:spPr>
          <a:xfrm>
            <a:off x="2148840" y="3721608"/>
            <a:ext cx="6400800" cy="4754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Rust · Soroban SDK</a:t>
            </a:r>
            <a:endParaRPr lang="en-US" sz="1100" dirty="0"/>
          </a:p>
        </p:txBody>
      </p:sp>
      <p:sp>
        <p:nvSpPr>
          <p:cNvPr id="38" name="Shape 36"/>
          <p:cNvSpPr/>
          <p:nvPr/>
        </p:nvSpPr>
        <p:spPr>
          <a:xfrm>
            <a:off x="457200" y="4288536"/>
            <a:ext cx="8229600" cy="475488"/>
          </a:xfrm>
          <a:prstGeom prst="roundRect">
            <a:avLst>
              <a:gd name="adj" fmla="val 15385"/>
            </a:avLst>
          </a:prstGeom>
          <a:solidFill>
            <a:srgbClr val="1E293B"/>
          </a:solidFill>
          <a:ln w="12700">
            <a:solidFill>
              <a:srgbClr val="2D3F55"/>
            </a:solidFill>
            <a:prstDash val="solid"/>
          </a:ln>
        </p:spPr>
      </p:sp>
      <p:sp>
        <p:nvSpPr>
          <p:cNvPr id="39" name="Text 37"/>
          <p:cNvSpPr/>
          <p:nvPr/>
        </p:nvSpPr>
        <p:spPr>
          <a:xfrm>
            <a:off x="594360" y="4288536"/>
            <a:ext cx="1463040" cy="475488"/>
          </a:xfrm>
          <a:prstGeom prst="rect">
            <a:avLst/>
          </a:prstGeom>
          <a:noFill/>
          <a:ln/>
        </p:spPr>
        <p:txBody>
          <a:bodyPr wrap="square" lIns="0" tIns="0" rIns="0" bIns="0" rtlCol="0" anchor="ctr"/>
          <a:lstStyle/>
          <a:p>
            <a:pPr indent="0" marL="0">
              <a:buNone/>
            </a:pPr>
            <a:r>
              <a:rPr lang="en-US" sz="1100" b="1" dirty="0">
                <a:solidFill>
                  <a:srgbClr val="2DD4BF"/>
                </a:solidFill>
                <a:latin typeface="Calibri" pitchFamily="34" charset="0"/>
                <a:ea typeface="Calibri" pitchFamily="34" charset="-122"/>
                <a:cs typeface="Calibri" pitchFamily="34" charset="-120"/>
              </a:rPr>
              <a:t>Integration:</a:t>
            </a:r>
            <a:endParaRPr lang="en-US" sz="1100" dirty="0"/>
          </a:p>
        </p:txBody>
      </p:sp>
      <p:sp>
        <p:nvSpPr>
          <p:cNvPr id="40" name="Text 38"/>
          <p:cNvSpPr/>
          <p:nvPr/>
        </p:nvSpPr>
        <p:spPr>
          <a:xfrm>
            <a:off x="2148840" y="4288536"/>
            <a:ext cx="6400800" cy="475488"/>
          </a:xfrm>
          <a:prstGeom prst="rect">
            <a:avLst/>
          </a:prstGeom>
          <a:noFill/>
          <a:ln/>
        </p:spPr>
        <p:txBody>
          <a:bodyPr wrap="square" lIns="0" tIns="0" rIns="0" bIns="0" rtlCol="0" anchor="ctr"/>
          <a:lstStyle/>
          <a:p>
            <a:pPr indent="0" marL="0">
              <a:buNone/>
            </a:pPr>
            <a:r>
              <a:rPr lang="en-US" sz="1100" dirty="0">
                <a:solidFill>
                  <a:srgbClr val="CBD5E1"/>
                </a:solidFill>
                <a:latin typeface="Calibri" pitchFamily="34" charset="0"/>
                <a:ea typeface="Calibri" pitchFamily="34" charset="-122"/>
                <a:cs typeface="Calibri" pitchFamily="34" charset="-120"/>
              </a:rPr>
              <a:t>@stellar/stellar-sdk · Freighter Wallet API</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F172A"/>
          </a:solidFill>
          <a:ln w="12700">
            <a:solidFill>
              <a:srgbClr val="0F172A"/>
            </a:solidFill>
            <a:prstDash val="solid"/>
          </a:ln>
        </p:spPr>
      </p:sp>
      <p:sp>
        <p:nvSpPr>
          <p:cNvPr id="3" name="Text 1"/>
          <p:cNvSpPr/>
          <p:nvPr/>
        </p:nvSpPr>
        <p:spPr>
          <a:xfrm>
            <a:off x="457200" y="0"/>
            <a:ext cx="8229600" cy="1005840"/>
          </a:xfrm>
          <a:prstGeom prst="rect">
            <a:avLst/>
          </a:prstGeom>
          <a:noFill/>
          <a:ln/>
        </p:spPr>
        <p:txBody>
          <a:bodyPr wrap="square" lIns="0" tIns="0" rIns="0" bIns="0" rtlCol="0" anchor="ctr"/>
          <a:lstStyle/>
          <a:p>
            <a:pPr indent="0" marL="0">
              <a:buNone/>
            </a:pPr>
            <a:r>
              <a:rPr lang="en-US" sz="3200" b="1" dirty="0">
                <a:solidFill>
                  <a:srgbClr val="2DD4BF"/>
                </a:solidFill>
                <a:latin typeface="Cambria" pitchFamily="34" charset="0"/>
                <a:ea typeface="Cambria" pitchFamily="34" charset="-122"/>
                <a:cs typeface="Cambria" pitchFamily="34" charset="-120"/>
              </a:rPr>
              <a:t>GROWTH &amp; ITERATION</a:t>
            </a:r>
            <a:endParaRPr lang="en-US" sz="3200" dirty="0"/>
          </a:p>
        </p:txBody>
      </p:sp>
      <p:sp>
        <p:nvSpPr>
          <p:cNvPr id="4" name="Shape 2"/>
          <p:cNvSpPr/>
          <p:nvPr/>
        </p:nvSpPr>
        <p:spPr>
          <a:xfrm>
            <a:off x="457200" y="1143000"/>
            <a:ext cx="2560320" cy="1828800"/>
          </a:xfrm>
          <a:prstGeom prst="roundRect">
            <a:avLst>
              <a:gd name="adj" fmla="val 7500"/>
            </a:avLst>
          </a:prstGeom>
          <a:solidFill>
            <a:srgbClr val="0F172A"/>
          </a:solidFill>
          <a:ln w="25400">
            <a:solidFill>
              <a:srgbClr val="2DD4BF"/>
            </a:solidFill>
            <a:prstDash val="solid"/>
          </a:ln>
          <a:effectLst>
            <a:outerShdw sx="100000" sy="100000" kx="0" ky="0" algn="bl" rotWithShape="0" blurRad="127000" dist="38100" dir="2700000">
              <a:srgbClr val="000000">
                <a:alpha val="12000"/>
              </a:srgbClr>
            </a:outerShdw>
          </a:effectLst>
        </p:spPr>
      </p:sp>
      <p:sp>
        <p:nvSpPr>
          <p:cNvPr id="5" name="Text 3"/>
          <p:cNvSpPr/>
          <p:nvPr/>
        </p:nvSpPr>
        <p:spPr>
          <a:xfrm>
            <a:off x="457200" y="1280160"/>
            <a:ext cx="2560320" cy="1005840"/>
          </a:xfrm>
          <a:prstGeom prst="rect">
            <a:avLst/>
          </a:prstGeom>
          <a:noFill/>
          <a:ln/>
        </p:spPr>
        <p:txBody>
          <a:bodyPr wrap="square" lIns="0" tIns="0" rIns="0" bIns="0" rtlCol="0" anchor="ctr"/>
          <a:lstStyle/>
          <a:p>
            <a:pPr algn="ctr" indent="0" marL="0">
              <a:buNone/>
            </a:pPr>
            <a:r>
              <a:rPr lang="en-US" sz="6000" b="1" dirty="0">
                <a:solidFill>
                  <a:srgbClr val="2DD4BF"/>
                </a:solidFill>
                <a:latin typeface="Cambria" pitchFamily="34" charset="0"/>
                <a:ea typeface="Cambria" pitchFamily="34" charset="-122"/>
                <a:cs typeface="Cambria" pitchFamily="34" charset="-120"/>
              </a:rPr>
              <a:t>50+</a:t>
            </a:r>
            <a:endParaRPr lang="en-US" sz="6000" dirty="0"/>
          </a:p>
        </p:txBody>
      </p:sp>
      <p:sp>
        <p:nvSpPr>
          <p:cNvPr id="6" name="Text 4"/>
          <p:cNvSpPr/>
          <p:nvPr/>
        </p:nvSpPr>
        <p:spPr>
          <a:xfrm>
            <a:off x="457200" y="2286000"/>
            <a:ext cx="2560320" cy="457200"/>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Users Onboarded</a:t>
            </a:r>
            <a:endParaRPr lang="en-US" sz="1100" dirty="0"/>
          </a:p>
        </p:txBody>
      </p:sp>
      <p:sp>
        <p:nvSpPr>
          <p:cNvPr id="7" name="Text 5"/>
          <p:cNvSpPr/>
          <p:nvPr/>
        </p:nvSpPr>
        <p:spPr>
          <a:xfrm>
            <a:off x="457200" y="2697480"/>
            <a:ext cx="2560320" cy="274320"/>
          </a:xfrm>
          <a:prstGeom prst="rect">
            <a:avLst/>
          </a:prstGeom>
          <a:noFill/>
          <a:ln/>
        </p:spPr>
        <p:txBody>
          <a:bodyPr wrap="square" lIns="0" tIns="0" rIns="0" bIns="0" rtlCol="0" anchor="ctr"/>
          <a:lstStyle/>
          <a:p>
            <a:pPr algn="ctr" indent="0" marL="0">
              <a:buNone/>
            </a:pPr>
            <a:r>
              <a:rPr lang="en-US" sz="900" i="1" dirty="0">
                <a:solidFill>
                  <a:srgbClr val="94A3B8"/>
                </a:solidFill>
                <a:latin typeface="Calibri" pitchFamily="34" charset="0"/>
                <a:ea typeface="Calibri" pitchFamily="34" charset="-122"/>
                <a:cs typeface="Calibri" pitchFamily="34" charset="-120"/>
              </a:rPr>
              <a:t>Trackable on Stellar Explorer</a:t>
            </a:r>
            <a:endParaRPr lang="en-US" sz="900" dirty="0"/>
          </a:p>
        </p:txBody>
      </p:sp>
      <p:sp>
        <p:nvSpPr>
          <p:cNvPr id="8" name="Shape 6"/>
          <p:cNvSpPr/>
          <p:nvPr/>
        </p:nvSpPr>
        <p:spPr>
          <a:xfrm>
            <a:off x="3337560" y="1143000"/>
            <a:ext cx="5486400" cy="1627632"/>
          </a:xfrm>
          <a:prstGeom prst="roundRect">
            <a:avLst>
              <a:gd name="adj" fmla="val 6742"/>
            </a:avLst>
          </a:prstGeom>
          <a:solidFill>
            <a:srgbClr val="FFFFFF"/>
          </a:solidFill>
          <a:ln w="12700">
            <a:solidFill>
              <a:srgbClr val="E2E8F0"/>
            </a:solidFill>
            <a:prstDash val="solid"/>
          </a:ln>
          <a:effectLst>
            <a:outerShdw sx="100000" sy="100000" kx="0" ky="0" algn="bl" rotWithShape="0" blurRad="127000" dist="38100" dir="2700000">
              <a:srgbClr val="000000">
                <a:alpha val="12000"/>
              </a:srgbClr>
            </a:outerShdw>
          </a:effectLst>
        </p:spPr>
      </p:sp>
      <p:sp>
        <p:nvSpPr>
          <p:cNvPr id="9" name="Text 7"/>
          <p:cNvSpPr/>
          <p:nvPr/>
        </p:nvSpPr>
        <p:spPr>
          <a:xfrm>
            <a:off x="3474720" y="1234440"/>
            <a:ext cx="5212080" cy="25603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 Feedback</a:t>
            </a:r>
            <a:endParaRPr lang="en-US" sz="900" dirty="0"/>
          </a:p>
        </p:txBody>
      </p:sp>
      <p:sp>
        <p:nvSpPr>
          <p:cNvPr id="10" name="Text 8"/>
          <p:cNvSpPr/>
          <p:nvPr/>
        </p:nvSpPr>
        <p:spPr>
          <a:xfrm>
            <a:off x="3474720" y="1472184"/>
            <a:ext cx="5212080" cy="274320"/>
          </a:xfrm>
          <a:prstGeom prst="rect">
            <a:avLst/>
          </a:prstGeom>
          <a:noFill/>
          <a:ln/>
        </p:spPr>
        <p:txBody>
          <a:bodyPr wrap="square" lIns="0" tIns="0" rIns="0" bIns="0" rtlCol="0" anchor="ctr"/>
          <a:lstStyle/>
          <a:p>
            <a:pPr indent="0" marL="0">
              <a:buNone/>
            </a:pPr>
            <a:r>
              <a:rPr lang="en-US" sz="1150" i="1" dirty="0">
                <a:solidFill>
                  <a:srgbClr val="0F172A"/>
                </a:solidFill>
                <a:latin typeface="Calibri" pitchFamily="34" charset="0"/>
                <a:ea typeface="Calibri" pitchFamily="34" charset="-122"/>
                <a:cs typeface="Calibri" pitchFamily="34" charset="-120"/>
              </a:rPr>
              <a:t>"Hard to invite non-crypto friends."</a:t>
            </a:r>
            <a:endParaRPr lang="en-US" sz="1150" dirty="0"/>
          </a:p>
        </p:txBody>
      </p:sp>
      <p:sp>
        <p:nvSpPr>
          <p:cNvPr id="11" name="Text 9"/>
          <p:cNvSpPr/>
          <p:nvPr/>
        </p:nvSpPr>
        <p:spPr>
          <a:xfrm>
            <a:off x="3474720" y="1728216"/>
            <a:ext cx="365760" cy="274320"/>
          </a:xfrm>
          <a:prstGeom prst="rect">
            <a:avLst/>
          </a:prstGeom>
          <a:noFill/>
          <a:ln/>
        </p:spPr>
        <p:txBody>
          <a:bodyPr wrap="square" lIns="0" tIns="0" rIns="0" bIns="0" rtlCol="0" anchor="ctr"/>
          <a:lstStyle/>
          <a:p>
            <a:pPr indent="0" marL="0">
              <a:buNone/>
            </a:pPr>
            <a:r>
              <a:rPr lang="en-US" sz="1600" dirty="0">
                <a:solidFill>
                  <a:srgbClr val="2DD4BF"/>
                </a:solidFill>
              </a:rPr>
              <a:t>→</a:t>
            </a:r>
            <a:endParaRPr lang="en-US" sz="1600" dirty="0"/>
          </a:p>
        </p:txBody>
      </p:sp>
      <p:sp>
        <p:nvSpPr>
          <p:cNvPr id="12" name="Shape 10"/>
          <p:cNvSpPr/>
          <p:nvPr/>
        </p:nvSpPr>
        <p:spPr>
          <a:xfrm>
            <a:off x="3931920" y="1746504"/>
            <a:ext cx="329184" cy="329184"/>
          </a:xfrm>
          <a:prstGeom prst="ellipse">
            <a:avLst/>
          </a:prstGeom>
          <a:solidFill>
            <a:srgbClr val="2DD4BF">
              <a:alpha val="80000"/>
            </a:srgbClr>
          </a:solidFill>
          <a:ln w="12700">
            <a:solidFill>
              <a:srgbClr val="2DD4BF"/>
            </a:solidFill>
            <a:prstDash val="solid"/>
          </a:ln>
        </p:spPr>
      </p:sp>
      <p:pic>
        <p:nvPicPr>
          <p:cNvPr id="13" name="Image 0" descr="preencoded.png">    </p:cNvPr>
          <p:cNvPicPr>
            <a:picLocks noChangeAspect="1"/>
          </p:cNvPicPr>
          <p:nvPr/>
        </p:nvPicPr>
        <p:blipFill>
          <a:blip r:embed="rId1"/>
          <a:stretch>
            <a:fillRect/>
          </a:stretch>
        </p:blipFill>
        <p:spPr>
          <a:xfrm>
            <a:off x="3977640" y="1792224"/>
            <a:ext cx="237744" cy="237744"/>
          </a:xfrm>
          <a:prstGeom prst="rect">
            <a:avLst/>
          </a:prstGeom>
        </p:spPr>
      </p:pic>
      <p:sp>
        <p:nvSpPr>
          <p:cNvPr id="14" name="Text 11"/>
          <p:cNvSpPr/>
          <p:nvPr/>
        </p:nvSpPr>
        <p:spPr>
          <a:xfrm>
            <a:off x="4343400" y="1746504"/>
            <a:ext cx="4297680" cy="292608"/>
          </a:xfrm>
          <a:prstGeom prst="rect">
            <a:avLst/>
          </a:prstGeom>
          <a:noFill/>
          <a:ln/>
        </p:spPr>
        <p:txBody>
          <a:bodyPr wrap="square" lIns="0" tIns="0" rIns="0" bIns="0" rtlCol="0" anchor="ctr"/>
          <a:lstStyle/>
          <a:p>
            <a:pPr indent="0" marL="0">
              <a:buNone/>
            </a:pPr>
            <a:r>
              <a:rPr lang="en-US" sz="1200" b="1" dirty="0">
                <a:solidFill>
                  <a:srgbClr val="6366F1"/>
                </a:solidFill>
                <a:latin typeface="Calibri" pitchFamily="34" charset="0"/>
                <a:ea typeface="Calibri" pitchFamily="34" charset="-122"/>
                <a:cs typeface="Calibri" pitchFamily="34" charset="-120"/>
              </a:rPr>
              <a:t>1-Click Invite Links</a:t>
            </a:r>
            <a:endParaRPr lang="en-US" sz="1200" dirty="0"/>
          </a:p>
        </p:txBody>
      </p:sp>
      <p:sp>
        <p:nvSpPr>
          <p:cNvPr id="15" name="Text 12"/>
          <p:cNvSpPr/>
          <p:nvPr/>
        </p:nvSpPr>
        <p:spPr>
          <a:xfrm>
            <a:off x="3474720" y="2057400"/>
            <a:ext cx="5212080" cy="47548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Drop a link in WhatsApp — friends join the contract instantly, no crypto knowledge needed.</a:t>
            </a:r>
            <a:endParaRPr lang="en-US" sz="1050" dirty="0"/>
          </a:p>
        </p:txBody>
      </p:sp>
      <p:sp>
        <p:nvSpPr>
          <p:cNvPr id="16" name="Shape 13"/>
          <p:cNvSpPr/>
          <p:nvPr/>
        </p:nvSpPr>
        <p:spPr>
          <a:xfrm>
            <a:off x="3337560" y="2971800"/>
            <a:ext cx="5486400" cy="1627632"/>
          </a:xfrm>
          <a:prstGeom prst="roundRect">
            <a:avLst>
              <a:gd name="adj" fmla="val 6742"/>
            </a:avLst>
          </a:prstGeom>
          <a:solidFill>
            <a:srgbClr val="FFFFFF"/>
          </a:solidFill>
          <a:ln w="12700">
            <a:solidFill>
              <a:srgbClr val="E2E8F0"/>
            </a:solidFill>
            <a:prstDash val="solid"/>
          </a:ln>
          <a:effectLst>
            <a:outerShdw sx="100000" sy="100000" kx="0" ky="0" algn="bl" rotWithShape="0" blurRad="127000" dist="38100" dir="2700000">
              <a:srgbClr val="000000">
                <a:alpha val="12000"/>
              </a:srgbClr>
            </a:outerShdw>
          </a:effectLst>
        </p:spPr>
      </p:sp>
      <p:sp>
        <p:nvSpPr>
          <p:cNvPr id="17" name="Text 14"/>
          <p:cNvSpPr/>
          <p:nvPr/>
        </p:nvSpPr>
        <p:spPr>
          <a:xfrm>
            <a:off x="3474720" y="3063240"/>
            <a:ext cx="5212080" cy="256032"/>
          </a:xfrm>
          <a:prstGeom prst="rect">
            <a:avLst/>
          </a:prstGeom>
          <a:noFill/>
          <a:ln/>
        </p:spPr>
        <p:txBody>
          <a:bodyPr wrap="square" lIns="0" tIns="0" rIns="0" bIns="0" rtlCol="0" anchor="ctr"/>
          <a:lstStyle/>
          <a:p>
            <a:pPr indent="0" marL="0">
              <a:buNone/>
            </a:pPr>
            <a:r>
              <a:rPr lang="en-US" sz="900" b="1" dirty="0">
                <a:solidFill>
                  <a:srgbClr val="64748B"/>
                </a:solidFill>
                <a:latin typeface="Calibri" pitchFamily="34" charset="0"/>
                <a:ea typeface="Calibri" pitchFamily="34" charset="-122"/>
                <a:cs typeface="Calibri" pitchFamily="34" charset="-120"/>
              </a:rPr>
              <a:t>💬 Feedback</a:t>
            </a:r>
            <a:endParaRPr lang="en-US" sz="900" dirty="0"/>
          </a:p>
        </p:txBody>
      </p:sp>
      <p:sp>
        <p:nvSpPr>
          <p:cNvPr id="18" name="Text 15"/>
          <p:cNvSpPr/>
          <p:nvPr/>
        </p:nvSpPr>
        <p:spPr>
          <a:xfrm>
            <a:off x="3474720" y="3300984"/>
            <a:ext cx="5212080" cy="274320"/>
          </a:xfrm>
          <a:prstGeom prst="rect">
            <a:avLst/>
          </a:prstGeom>
          <a:noFill/>
          <a:ln/>
        </p:spPr>
        <p:txBody>
          <a:bodyPr wrap="square" lIns="0" tIns="0" rIns="0" bIns="0" rtlCol="0" anchor="ctr"/>
          <a:lstStyle/>
          <a:p>
            <a:pPr indent="0" marL="0">
              <a:buNone/>
            </a:pPr>
            <a:r>
              <a:rPr lang="en-US" sz="1150" i="1" dirty="0">
                <a:solidFill>
                  <a:srgbClr val="0F172A"/>
                </a:solidFill>
                <a:latin typeface="Calibri" pitchFamily="34" charset="0"/>
                <a:ea typeface="Calibri" pitchFamily="34" charset="-122"/>
                <a:cs typeface="Calibri" pitchFamily="34" charset="-120"/>
              </a:rPr>
              <a:t>"Need records for accounting."</a:t>
            </a:r>
            <a:endParaRPr lang="en-US" sz="1150" dirty="0"/>
          </a:p>
        </p:txBody>
      </p:sp>
      <p:sp>
        <p:nvSpPr>
          <p:cNvPr id="19" name="Text 16"/>
          <p:cNvSpPr/>
          <p:nvPr/>
        </p:nvSpPr>
        <p:spPr>
          <a:xfrm>
            <a:off x="3474720" y="3557016"/>
            <a:ext cx="365760" cy="274320"/>
          </a:xfrm>
          <a:prstGeom prst="rect">
            <a:avLst/>
          </a:prstGeom>
          <a:noFill/>
          <a:ln/>
        </p:spPr>
        <p:txBody>
          <a:bodyPr wrap="square" lIns="0" tIns="0" rIns="0" bIns="0" rtlCol="0" anchor="ctr"/>
          <a:lstStyle/>
          <a:p>
            <a:pPr indent="0" marL="0">
              <a:buNone/>
            </a:pPr>
            <a:r>
              <a:rPr lang="en-US" sz="1600" dirty="0">
                <a:solidFill>
                  <a:srgbClr val="2DD4BF"/>
                </a:solidFill>
              </a:rPr>
              <a:t>→</a:t>
            </a:r>
            <a:endParaRPr lang="en-US" sz="1600" dirty="0"/>
          </a:p>
        </p:txBody>
      </p:sp>
      <p:sp>
        <p:nvSpPr>
          <p:cNvPr id="20" name="Shape 17"/>
          <p:cNvSpPr/>
          <p:nvPr/>
        </p:nvSpPr>
        <p:spPr>
          <a:xfrm>
            <a:off x="3931920" y="3575304"/>
            <a:ext cx="329184" cy="329184"/>
          </a:xfrm>
          <a:prstGeom prst="ellipse">
            <a:avLst/>
          </a:prstGeom>
          <a:solidFill>
            <a:srgbClr val="2DD4BF">
              <a:alpha val="80000"/>
            </a:srgbClr>
          </a:solidFill>
          <a:ln w="12700">
            <a:solidFill>
              <a:srgbClr val="2DD4BF"/>
            </a:solidFill>
            <a:prstDash val="solid"/>
          </a:ln>
        </p:spPr>
      </p:sp>
      <p:pic>
        <p:nvPicPr>
          <p:cNvPr id="21" name="Image 1" descr="preencoded.png">    </p:cNvPr>
          <p:cNvPicPr>
            <a:picLocks noChangeAspect="1"/>
          </p:cNvPicPr>
          <p:nvPr/>
        </p:nvPicPr>
        <p:blipFill>
          <a:blip r:embed="rId2"/>
          <a:stretch>
            <a:fillRect/>
          </a:stretch>
        </p:blipFill>
        <p:spPr>
          <a:xfrm>
            <a:off x="3977640" y="3621024"/>
            <a:ext cx="237744" cy="237744"/>
          </a:xfrm>
          <a:prstGeom prst="rect">
            <a:avLst/>
          </a:prstGeom>
        </p:spPr>
      </p:pic>
      <p:sp>
        <p:nvSpPr>
          <p:cNvPr id="22" name="Text 18"/>
          <p:cNvSpPr/>
          <p:nvPr/>
        </p:nvSpPr>
        <p:spPr>
          <a:xfrm>
            <a:off x="4343400" y="3575304"/>
            <a:ext cx="4297680" cy="292608"/>
          </a:xfrm>
          <a:prstGeom prst="rect">
            <a:avLst/>
          </a:prstGeom>
          <a:noFill/>
          <a:ln/>
        </p:spPr>
        <p:txBody>
          <a:bodyPr wrap="square" lIns="0" tIns="0" rIns="0" bIns="0" rtlCol="0" anchor="ctr"/>
          <a:lstStyle/>
          <a:p>
            <a:pPr indent="0" marL="0">
              <a:buNone/>
            </a:pPr>
            <a:r>
              <a:rPr lang="en-US" sz="1200" b="1" dirty="0">
                <a:solidFill>
                  <a:srgbClr val="6366F1"/>
                </a:solidFill>
                <a:latin typeface="Calibri" pitchFamily="34" charset="0"/>
                <a:ea typeface="Calibri" pitchFamily="34" charset="-122"/>
                <a:cs typeface="Calibri" pitchFamily="34" charset="-120"/>
              </a:rPr>
              <a:t>CSV Export Feature</a:t>
            </a:r>
            <a:endParaRPr lang="en-US" sz="1200" dirty="0"/>
          </a:p>
        </p:txBody>
      </p:sp>
      <p:sp>
        <p:nvSpPr>
          <p:cNvPr id="23" name="Text 19"/>
          <p:cNvSpPr/>
          <p:nvPr/>
        </p:nvSpPr>
        <p:spPr>
          <a:xfrm>
            <a:off x="3474720" y="3886200"/>
            <a:ext cx="5212080" cy="475488"/>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Download the full group ledger history as CSV — ready for expense reports or bookkeeping.</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2DD4BF"/>
                </a:solidFill>
                <a:latin typeface="Cambria" pitchFamily="34" charset="0"/>
                <a:ea typeface="Cambria" pitchFamily="34" charset="-122"/>
                <a:cs typeface="Cambria" pitchFamily="34" charset="-120"/>
              </a:rPr>
              <a:t>FUTURE ROADMAP</a:t>
            </a:r>
            <a:endParaRPr lang="en-US" sz="3200" dirty="0"/>
          </a:p>
        </p:txBody>
      </p:sp>
      <p:sp>
        <p:nvSpPr>
          <p:cNvPr id="3" name="Text 1"/>
          <p:cNvSpPr/>
          <p:nvPr/>
        </p:nvSpPr>
        <p:spPr>
          <a:xfrm>
            <a:off x="457200" y="749808"/>
            <a:ext cx="8229600" cy="347472"/>
          </a:xfrm>
          <a:prstGeom prst="rect">
            <a:avLst/>
          </a:prstGeom>
          <a:noFill/>
          <a:ln/>
        </p:spPr>
        <p:txBody>
          <a:bodyPr wrap="square"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Where SplitPay goes next</a:t>
            </a:r>
            <a:endParaRPr lang="en-US" sz="1300" dirty="0"/>
          </a:p>
        </p:txBody>
      </p:sp>
      <p:sp>
        <p:nvSpPr>
          <p:cNvPr id="4" name="Shape 2"/>
          <p:cNvSpPr/>
          <p:nvPr/>
        </p:nvSpPr>
        <p:spPr>
          <a:xfrm>
            <a:off x="1143000" y="2423160"/>
            <a:ext cx="6858000" cy="54864"/>
          </a:xfrm>
          <a:prstGeom prst="rect">
            <a:avLst/>
          </a:prstGeom>
          <a:solidFill>
            <a:srgbClr val="2DD4BF">
              <a:alpha val="50000"/>
            </a:srgbClr>
          </a:solidFill>
          <a:ln w="12700">
            <a:solidFill>
              <a:srgbClr val="2DD4BF"/>
            </a:solidFill>
            <a:prstDash val="solid"/>
          </a:ln>
        </p:spPr>
      </p:sp>
      <p:sp>
        <p:nvSpPr>
          <p:cNvPr id="5" name="Shape 3"/>
          <p:cNvSpPr/>
          <p:nvPr/>
        </p:nvSpPr>
        <p:spPr>
          <a:xfrm>
            <a:off x="1280160" y="2304288"/>
            <a:ext cx="292608" cy="292608"/>
          </a:xfrm>
          <a:prstGeom prst="ellipse">
            <a:avLst/>
          </a:prstGeom>
          <a:solidFill>
            <a:srgbClr val="2DD4BF"/>
          </a:solidFill>
          <a:ln w="12700">
            <a:solidFill>
              <a:srgbClr val="2DD4BF"/>
            </a:solidFill>
            <a:prstDash val="solid"/>
          </a:ln>
        </p:spPr>
      </p:sp>
      <p:sp>
        <p:nvSpPr>
          <p:cNvPr id="6" name="Shape 4"/>
          <p:cNvSpPr/>
          <p:nvPr/>
        </p:nvSpPr>
        <p:spPr>
          <a:xfrm>
            <a:off x="640080" y="2788920"/>
            <a:ext cx="2377440" cy="1920240"/>
          </a:xfrm>
          <a:prstGeom prst="roundRect">
            <a:avLst>
              <a:gd name="adj" fmla="val 5714"/>
            </a:avLst>
          </a:prstGeom>
          <a:solidFill>
            <a:srgbClr val="1E293B"/>
          </a:solidFill>
          <a:ln w="12700">
            <a:solidFill>
              <a:srgbClr val="2DD4BF"/>
            </a:solidFill>
            <a:prstDash val="solid"/>
          </a:ln>
          <a:effectLst>
            <a:outerShdw sx="100000" sy="100000" kx="0" ky="0" algn="bl" rotWithShape="0" blurRad="127000" dist="38100" dir="2700000">
              <a:srgbClr val="000000">
                <a:alpha val="12000"/>
              </a:srgbClr>
            </a:outerShdw>
          </a:effectLst>
        </p:spPr>
      </p:sp>
      <p:sp>
        <p:nvSpPr>
          <p:cNvPr id="7" name="Shape 5"/>
          <p:cNvSpPr/>
          <p:nvPr/>
        </p:nvSpPr>
        <p:spPr>
          <a:xfrm>
            <a:off x="685800" y="2852928"/>
            <a:ext cx="914400" cy="256032"/>
          </a:xfrm>
          <a:prstGeom prst="roundRect">
            <a:avLst>
              <a:gd name="adj" fmla="val 21429"/>
            </a:avLst>
          </a:prstGeom>
          <a:solidFill>
            <a:srgbClr val="2DD4BF">
              <a:alpha val="70000"/>
            </a:srgbClr>
          </a:solidFill>
          <a:ln w="12700">
            <a:solidFill>
              <a:srgbClr val="2DD4BF"/>
            </a:solidFill>
            <a:prstDash val="solid"/>
          </a:ln>
        </p:spPr>
      </p:sp>
      <p:sp>
        <p:nvSpPr>
          <p:cNvPr id="8" name="Text 6"/>
          <p:cNvSpPr/>
          <p:nvPr/>
        </p:nvSpPr>
        <p:spPr>
          <a:xfrm>
            <a:off x="685800" y="2852928"/>
            <a:ext cx="914400" cy="256032"/>
          </a:xfrm>
          <a:prstGeom prst="rect">
            <a:avLst/>
          </a:prstGeom>
          <a:noFill/>
          <a:ln/>
        </p:spPr>
        <p:txBody>
          <a:bodyPr wrap="square" lIns="0" tIns="0" rIns="0" bIns="0" rtlCol="0" anchor="ctr"/>
          <a:lstStyle/>
          <a:p>
            <a:pPr algn="ctr" indent="0" marL="0">
              <a:buNone/>
            </a:pPr>
            <a:r>
              <a:rPr lang="en-US" sz="900" b="1" dirty="0">
                <a:solidFill>
                  <a:srgbClr val="2DD4BF"/>
                </a:solidFill>
                <a:latin typeface="Calibri" pitchFamily="34" charset="0"/>
                <a:ea typeface="Calibri" pitchFamily="34" charset="-122"/>
                <a:cs typeface="Calibri" pitchFamily="34" charset="-120"/>
              </a:rPr>
              <a:t>Phase 1</a:t>
            </a:r>
            <a:endParaRPr lang="en-US" sz="900" dirty="0"/>
          </a:p>
        </p:txBody>
      </p:sp>
      <p:sp>
        <p:nvSpPr>
          <p:cNvPr id="9" name="Text 7"/>
          <p:cNvSpPr/>
          <p:nvPr/>
        </p:nvSpPr>
        <p:spPr>
          <a:xfrm>
            <a:off x="640080" y="3127248"/>
            <a:ext cx="237744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Q1 2025</a:t>
            </a:r>
            <a:endParaRPr lang="en-US" sz="900" dirty="0"/>
          </a:p>
        </p:txBody>
      </p:sp>
      <p:sp>
        <p:nvSpPr>
          <p:cNvPr id="10" name="Text 8"/>
          <p:cNvSpPr/>
          <p:nvPr/>
        </p:nvSpPr>
        <p:spPr>
          <a:xfrm>
            <a:off x="640080" y="3401568"/>
            <a:ext cx="2377440"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1" name="Text 9"/>
          <p:cNvSpPr/>
          <p:nvPr/>
        </p:nvSpPr>
        <p:spPr>
          <a:xfrm>
            <a:off x="640080" y="3913632"/>
            <a:ext cx="2377440"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Fiat On/Off Ramps</a:t>
            </a:r>
            <a:endParaRPr lang="en-US" sz="1200" dirty="0"/>
          </a:p>
        </p:txBody>
      </p:sp>
      <p:sp>
        <p:nvSpPr>
          <p:cNvPr id="12" name="Text 10"/>
          <p:cNvSpPr/>
          <p:nvPr/>
        </p:nvSpPr>
        <p:spPr>
          <a:xfrm>
            <a:off x="731520" y="4224528"/>
            <a:ext cx="2194560" cy="41148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Stellar Anchors integration for seamless fiat conversion — no crypto knowledge needed.</a:t>
            </a:r>
            <a:endParaRPr lang="en-US" sz="900" dirty="0"/>
          </a:p>
        </p:txBody>
      </p:sp>
      <p:sp>
        <p:nvSpPr>
          <p:cNvPr id="13" name="Shape 11"/>
          <p:cNvSpPr/>
          <p:nvPr/>
        </p:nvSpPr>
        <p:spPr>
          <a:xfrm>
            <a:off x="3977640" y="2304288"/>
            <a:ext cx="292608" cy="292608"/>
          </a:xfrm>
          <a:prstGeom prst="ellipse">
            <a:avLst/>
          </a:prstGeom>
          <a:solidFill>
            <a:srgbClr val="6366F1"/>
          </a:solidFill>
          <a:ln w="12700">
            <a:solidFill>
              <a:srgbClr val="6366F1"/>
            </a:solidFill>
            <a:prstDash val="solid"/>
          </a:ln>
        </p:spPr>
      </p:sp>
      <p:sp>
        <p:nvSpPr>
          <p:cNvPr id="14" name="Shape 12"/>
          <p:cNvSpPr/>
          <p:nvPr/>
        </p:nvSpPr>
        <p:spPr>
          <a:xfrm>
            <a:off x="3337560" y="2788920"/>
            <a:ext cx="2377440" cy="1920240"/>
          </a:xfrm>
          <a:prstGeom prst="roundRect">
            <a:avLst>
              <a:gd name="adj" fmla="val 5714"/>
            </a:avLst>
          </a:prstGeom>
          <a:solidFill>
            <a:srgbClr val="1E293B"/>
          </a:solidFill>
          <a:ln w="12700">
            <a:solidFill>
              <a:srgbClr val="6366F1"/>
            </a:solidFill>
            <a:prstDash val="solid"/>
          </a:ln>
          <a:effectLst>
            <a:outerShdw sx="100000" sy="100000" kx="0" ky="0" algn="bl" rotWithShape="0" blurRad="127000" dist="38100" dir="2700000">
              <a:srgbClr val="000000">
                <a:alpha val="12000"/>
              </a:srgbClr>
            </a:outerShdw>
          </a:effectLst>
        </p:spPr>
      </p:sp>
      <p:sp>
        <p:nvSpPr>
          <p:cNvPr id="15" name="Shape 13"/>
          <p:cNvSpPr/>
          <p:nvPr/>
        </p:nvSpPr>
        <p:spPr>
          <a:xfrm>
            <a:off x="3383280" y="2852928"/>
            <a:ext cx="914400" cy="256032"/>
          </a:xfrm>
          <a:prstGeom prst="roundRect">
            <a:avLst>
              <a:gd name="adj" fmla="val 21429"/>
            </a:avLst>
          </a:prstGeom>
          <a:solidFill>
            <a:srgbClr val="6366F1">
              <a:alpha val="70000"/>
            </a:srgbClr>
          </a:solidFill>
          <a:ln w="12700">
            <a:solidFill>
              <a:srgbClr val="6366F1"/>
            </a:solidFill>
            <a:prstDash val="solid"/>
          </a:ln>
        </p:spPr>
      </p:sp>
      <p:sp>
        <p:nvSpPr>
          <p:cNvPr id="16" name="Text 14"/>
          <p:cNvSpPr/>
          <p:nvPr/>
        </p:nvSpPr>
        <p:spPr>
          <a:xfrm>
            <a:off x="3383280" y="2852928"/>
            <a:ext cx="914400" cy="256032"/>
          </a:xfrm>
          <a:prstGeom prst="rect">
            <a:avLst/>
          </a:prstGeom>
          <a:noFill/>
          <a:ln/>
        </p:spPr>
        <p:txBody>
          <a:bodyPr wrap="square" lIns="0" tIns="0" rIns="0" bIns="0" rtlCol="0" anchor="ctr"/>
          <a:lstStyle/>
          <a:p>
            <a:pPr algn="ctr" indent="0" marL="0">
              <a:buNone/>
            </a:pPr>
            <a:r>
              <a:rPr lang="en-US" sz="900" b="1" dirty="0">
                <a:solidFill>
                  <a:srgbClr val="6366F1"/>
                </a:solidFill>
                <a:latin typeface="Calibri" pitchFamily="34" charset="0"/>
                <a:ea typeface="Calibri" pitchFamily="34" charset="-122"/>
                <a:cs typeface="Calibri" pitchFamily="34" charset="-120"/>
              </a:rPr>
              <a:t>Phase 2</a:t>
            </a:r>
            <a:endParaRPr lang="en-US" sz="900" dirty="0"/>
          </a:p>
        </p:txBody>
      </p:sp>
      <p:sp>
        <p:nvSpPr>
          <p:cNvPr id="17" name="Text 15"/>
          <p:cNvSpPr/>
          <p:nvPr/>
        </p:nvSpPr>
        <p:spPr>
          <a:xfrm>
            <a:off x="3337560" y="3127248"/>
            <a:ext cx="237744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Q2 2025</a:t>
            </a:r>
            <a:endParaRPr lang="en-US" sz="900" dirty="0"/>
          </a:p>
        </p:txBody>
      </p:sp>
      <p:pic>
        <p:nvPicPr>
          <p:cNvPr id="18" name="Image 0" descr="preencoded.png">    </p:cNvPr>
          <p:cNvPicPr>
            <a:picLocks noChangeAspect="1"/>
          </p:cNvPicPr>
          <p:nvPr/>
        </p:nvPicPr>
        <p:blipFill>
          <a:blip r:embed="rId1"/>
          <a:stretch>
            <a:fillRect/>
          </a:stretch>
        </p:blipFill>
        <p:spPr>
          <a:xfrm>
            <a:off x="4297680" y="3429000"/>
            <a:ext cx="457200" cy="457200"/>
          </a:xfrm>
          <a:prstGeom prst="rect">
            <a:avLst/>
          </a:prstGeom>
        </p:spPr>
      </p:pic>
      <p:sp>
        <p:nvSpPr>
          <p:cNvPr id="19" name="Text 16"/>
          <p:cNvSpPr/>
          <p:nvPr/>
        </p:nvSpPr>
        <p:spPr>
          <a:xfrm>
            <a:off x="3337560" y="3913632"/>
            <a:ext cx="2377440"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Mobile App</a:t>
            </a:r>
            <a:endParaRPr lang="en-US" sz="1200" dirty="0"/>
          </a:p>
        </p:txBody>
      </p:sp>
      <p:sp>
        <p:nvSpPr>
          <p:cNvPr id="20" name="Text 17"/>
          <p:cNvSpPr/>
          <p:nvPr/>
        </p:nvSpPr>
        <p:spPr>
          <a:xfrm>
            <a:off x="3429000" y="4224528"/>
            <a:ext cx="2194560" cy="41148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Native React Native app for iOS and Android — SplitPay in your pocket, anywhere.</a:t>
            </a:r>
            <a:endParaRPr lang="en-US" sz="900" dirty="0"/>
          </a:p>
        </p:txBody>
      </p:sp>
      <p:sp>
        <p:nvSpPr>
          <p:cNvPr id="21" name="Shape 18"/>
          <p:cNvSpPr/>
          <p:nvPr/>
        </p:nvSpPr>
        <p:spPr>
          <a:xfrm>
            <a:off x="6675120" y="2304288"/>
            <a:ext cx="292608" cy="292608"/>
          </a:xfrm>
          <a:prstGeom prst="ellipse">
            <a:avLst/>
          </a:prstGeom>
          <a:solidFill>
            <a:srgbClr val="F59E0B"/>
          </a:solidFill>
          <a:ln w="12700">
            <a:solidFill>
              <a:srgbClr val="F59E0B"/>
            </a:solidFill>
            <a:prstDash val="solid"/>
          </a:ln>
        </p:spPr>
      </p:sp>
      <p:sp>
        <p:nvSpPr>
          <p:cNvPr id="22" name="Shape 19"/>
          <p:cNvSpPr/>
          <p:nvPr/>
        </p:nvSpPr>
        <p:spPr>
          <a:xfrm>
            <a:off x="6035040" y="2788920"/>
            <a:ext cx="2377440" cy="1920240"/>
          </a:xfrm>
          <a:prstGeom prst="roundRect">
            <a:avLst>
              <a:gd name="adj" fmla="val 5714"/>
            </a:avLst>
          </a:prstGeom>
          <a:solidFill>
            <a:srgbClr val="1E293B"/>
          </a:solidFill>
          <a:ln w="12700">
            <a:solidFill>
              <a:srgbClr val="F59E0B"/>
            </a:solidFill>
            <a:prstDash val="solid"/>
          </a:ln>
          <a:effectLst>
            <a:outerShdw sx="100000" sy="100000" kx="0" ky="0" algn="bl" rotWithShape="0" blurRad="127000" dist="38100" dir="2700000">
              <a:srgbClr val="000000">
                <a:alpha val="12000"/>
              </a:srgbClr>
            </a:outerShdw>
          </a:effectLst>
        </p:spPr>
      </p:sp>
      <p:sp>
        <p:nvSpPr>
          <p:cNvPr id="23" name="Shape 20"/>
          <p:cNvSpPr/>
          <p:nvPr/>
        </p:nvSpPr>
        <p:spPr>
          <a:xfrm>
            <a:off x="6080760" y="2852928"/>
            <a:ext cx="914400" cy="256032"/>
          </a:xfrm>
          <a:prstGeom prst="roundRect">
            <a:avLst>
              <a:gd name="adj" fmla="val 21429"/>
            </a:avLst>
          </a:prstGeom>
          <a:solidFill>
            <a:srgbClr val="F59E0B">
              <a:alpha val="70000"/>
            </a:srgbClr>
          </a:solidFill>
          <a:ln w="12700">
            <a:solidFill>
              <a:srgbClr val="F59E0B"/>
            </a:solidFill>
            <a:prstDash val="solid"/>
          </a:ln>
        </p:spPr>
      </p:sp>
      <p:sp>
        <p:nvSpPr>
          <p:cNvPr id="24" name="Text 21"/>
          <p:cNvSpPr/>
          <p:nvPr/>
        </p:nvSpPr>
        <p:spPr>
          <a:xfrm>
            <a:off x="6080760" y="2852928"/>
            <a:ext cx="914400" cy="256032"/>
          </a:xfrm>
          <a:prstGeom prst="rect">
            <a:avLst/>
          </a:prstGeom>
          <a:noFill/>
          <a:ln/>
        </p:spPr>
        <p:txBody>
          <a:bodyPr wrap="square" lIns="0" tIns="0" rIns="0" bIns="0" rtlCol="0" anchor="ctr"/>
          <a:lstStyle/>
          <a:p>
            <a:pPr algn="ctr" indent="0" marL="0">
              <a:buNone/>
            </a:pPr>
            <a:r>
              <a:rPr lang="en-US" sz="900" b="1" dirty="0">
                <a:solidFill>
                  <a:srgbClr val="F59E0B"/>
                </a:solidFill>
                <a:latin typeface="Calibri" pitchFamily="34" charset="0"/>
                <a:ea typeface="Calibri" pitchFamily="34" charset="-122"/>
                <a:cs typeface="Calibri" pitchFamily="34" charset="-120"/>
              </a:rPr>
              <a:t>Phase 3</a:t>
            </a:r>
            <a:endParaRPr lang="en-US" sz="900" dirty="0"/>
          </a:p>
        </p:txBody>
      </p:sp>
      <p:sp>
        <p:nvSpPr>
          <p:cNvPr id="25" name="Text 22"/>
          <p:cNvSpPr/>
          <p:nvPr/>
        </p:nvSpPr>
        <p:spPr>
          <a:xfrm>
            <a:off x="6035040" y="3127248"/>
            <a:ext cx="2377440" cy="256032"/>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Q3 2025</a:t>
            </a:r>
            <a:endParaRPr lang="en-US" sz="900" dirty="0"/>
          </a:p>
        </p:txBody>
      </p:sp>
      <p:sp>
        <p:nvSpPr>
          <p:cNvPr id="26" name="Text 23"/>
          <p:cNvSpPr/>
          <p:nvPr/>
        </p:nvSpPr>
        <p:spPr>
          <a:xfrm>
            <a:off x="6035040" y="3401568"/>
            <a:ext cx="2377440" cy="475488"/>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27" name="Text 24"/>
          <p:cNvSpPr/>
          <p:nvPr/>
        </p:nvSpPr>
        <p:spPr>
          <a:xfrm>
            <a:off x="6035040" y="3913632"/>
            <a:ext cx="2377440" cy="3017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USDC &amp; Stablecoins</a:t>
            </a:r>
            <a:endParaRPr lang="en-US" sz="1200" dirty="0"/>
          </a:p>
        </p:txBody>
      </p:sp>
      <p:sp>
        <p:nvSpPr>
          <p:cNvPr id="28" name="Text 25"/>
          <p:cNvSpPr/>
          <p:nvPr/>
        </p:nvSpPr>
        <p:spPr>
          <a:xfrm>
            <a:off x="6126480" y="4224528"/>
            <a:ext cx="2194560" cy="411480"/>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Settle without volatility risk — support for USDC and other Stellar stablecoins.</a:t>
            </a:r>
            <a:endParaRPr lang="en-US" sz="900" dirty="0"/>
          </a:p>
        </p:txBody>
      </p:sp>
      <p:sp>
        <p:nvSpPr>
          <p:cNvPr id="29" name="Text 26"/>
          <p:cNvSpPr/>
          <p:nvPr/>
        </p:nvSpPr>
        <p:spPr>
          <a:xfrm>
            <a:off x="640080" y="1371600"/>
            <a:ext cx="2377440" cy="320040"/>
          </a:xfrm>
          <a:prstGeom prst="rect">
            <a:avLst/>
          </a:prstGeom>
          <a:noFill/>
          <a:ln/>
        </p:spPr>
        <p:txBody>
          <a:bodyPr wrap="square" lIns="0" tIns="0" rIns="0" bIns="0" rtlCol="0" anchor="ctr"/>
          <a:lstStyle/>
          <a:p>
            <a:pPr algn="ctr" indent="0" marL="0">
              <a:buNone/>
            </a:pPr>
            <a:r>
              <a:rPr lang="en-US" sz="1100" b="1" dirty="0">
                <a:solidFill>
                  <a:srgbClr val="2DD4BF"/>
                </a:solidFill>
                <a:latin typeface="Calibri" pitchFamily="34" charset="0"/>
                <a:ea typeface="Calibri" pitchFamily="34" charset="-122"/>
                <a:cs typeface="Calibri" pitchFamily="34" charset="-120"/>
              </a:rPr>
              <a:t>Q1 2025</a:t>
            </a:r>
            <a:endParaRPr lang="en-US" sz="1100" dirty="0"/>
          </a:p>
        </p:txBody>
      </p:sp>
      <p:sp>
        <p:nvSpPr>
          <p:cNvPr id="30" name="Shape 27"/>
          <p:cNvSpPr/>
          <p:nvPr/>
        </p:nvSpPr>
        <p:spPr>
          <a:xfrm>
            <a:off x="1828800" y="1691640"/>
            <a:ext cx="0" cy="612648"/>
          </a:xfrm>
          <a:prstGeom prst="line">
            <a:avLst/>
          </a:prstGeom>
          <a:noFill/>
          <a:ln w="12700">
            <a:solidFill>
              <a:srgbClr val="2DD4BF"/>
            </a:solidFill>
            <a:prstDash val="dash"/>
          </a:ln>
        </p:spPr>
      </p:sp>
      <p:sp>
        <p:nvSpPr>
          <p:cNvPr id="31" name="Text 28"/>
          <p:cNvSpPr/>
          <p:nvPr/>
        </p:nvSpPr>
        <p:spPr>
          <a:xfrm>
            <a:off x="3337560" y="1371600"/>
            <a:ext cx="2377440" cy="320040"/>
          </a:xfrm>
          <a:prstGeom prst="rect">
            <a:avLst/>
          </a:prstGeom>
          <a:noFill/>
          <a:ln/>
        </p:spPr>
        <p:txBody>
          <a:bodyPr wrap="square" lIns="0" tIns="0" rIns="0" bIns="0" rtlCol="0" anchor="ctr"/>
          <a:lstStyle/>
          <a:p>
            <a:pPr algn="ctr" indent="0" marL="0">
              <a:buNone/>
            </a:pPr>
            <a:r>
              <a:rPr lang="en-US" sz="1100" b="1" dirty="0">
                <a:solidFill>
                  <a:srgbClr val="6366F1"/>
                </a:solidFill>
                <a:latin typeface="Calibri" pitchFamily="34" charset="0"/>
                <a:ea typeface="Calibri" pitchFamily="34" charset="-122"/>
                <a:cs typeface="Calibri" pitchFamily="34" charset="-120"/>
              </a:rPr>
              <a:t>Q2 2025</a:t>
            </a:r>
            <a:endParaRPr lang="en-US" sz="1100" dirty="0"/>
          </a:p>
        </p:txBody>
      </p:sp>
      <p:sp>
        <p:nvSpPr>
          <p:cNvPr id="32" name="Shape 29"/>
          <p:cNvSpPr/>
          <p:nvPr/>
        </p:nvSpPr>
        <p:spPr>
          <a:xfrm>
            <a:off x="4526280" y="1691640"/>
            <a:ext cx="0" cy="612648"/>
          </a:xfrm>
          <a:prstGeom prst="line">
            <a:avLst/>
          </a:prstGeom>
          <a:noFill/>
          <a:ln w="12700">
            <a:solidFill>
              <a:srgbClr val="6366F1"/>
            </a:solidFill>
            <a:prstDash val="dash"/>
          </a:ln>
        </p:spPr>
      </p:sp>
      <p:sp>
        <p:nvSpPr>
          <p:cNvPr id="33" name="Text 30"/>
          <p:cNvSpPr/>
          <p:nvPr/>
        </p:nvSpPr>
        <p:spPr>
          <a:xfrm>
            <a:off x="6035040" y="1371600"/>
            <a:ext cx="2377440" cy="320040"/>
          </a:xfrm>
          <a:prstGeom prst="rect">
            <a:avLst/>
          </a:prstGeom>
          <a:noFill/>
          <a:ln/>
        </p:spPr>
        <p:txBody>
          <a:bodyPr wrap="square" lIns="0" tIns="0" rIns="0" bIns="0" rtlCol="0" anchor="ctr"/>
          <a:lstStyle/>
          <a:p>
            <a:pPr algn="ctr" indent="0" marL="0">
              <a:buNone/>
            </a:pPr>
            <a:r>
              <a:rPr lang="en-US" sz="1100" b="1" dirty="0">
                <a:solidFill>
                  <a:srgbClr val="F59E0B"/>
                </a:solidFill>
                <a:latin typeface="Calibri" pitchFamily="34" charset="0"/>
                <a:ea typeface="Calibri" pitchFamily="34" charset="-122"/>
                <a:cs typeface="Calibri" pitchFamily="34" charset="-120"/>
              </a:rPr>
              <a:t>Q3 2025</a:t>
            </a:r>
            <a:endParaRPr lang="en-US" sz="1100" dirty="0"/>
          </a:p>
        </p:txBody>
      </p:sp>
      <p:sp>
        <p:nvSpPr>
          <p:cNvPr id="34" name="Shape 31"/>
          <p:cNvSpPr/>
          <p:nvPr/>
        </p:nvSpPr>
        <p:spPr>
          <a:xfrm>
            <a:off x="7223760" y="1691640"/>
            <a:ext cx="0" cy="612648"/>
          </a:xfrm>
          <a:prstGeom prst="line">
            <a:avLst/>
          </a:prstGeom>
          <a:noFill/>
          <a:ln w="12700">
            <a:solidFill>
              <a:srgbClr val="F59E0B"/>
            </a:solidFill>
            <a:prstDash val="dash"/>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1828800" y="-1828800"/>
            <a:ext cx="6400800" cy="6400800"/>
          </a:xfrm>
          <a:prstGeom prst="ellipse">
            <a:avLst/>
          </a:prstGeom>
          <a:solidFill>
            <a:srgbClr val="6366F1">
              <a:alpha val="12000"/>
            </a:srgbClr>
          </a:solidFill>
          <a:ln w="12700">
            <a:solidFill>
              <a:srgbClr val="6366F1"/>
            </a:solidFill>
            <a:prstDash val="solid"/>
          </a:ln>
        </p:spPr>
      </p:sp>
      <p:sp>
        <p:nvSpPr>
          <p:cNvPr id="3" name="Shape 1"/>
          <p:cNvSpPr/>
          <p:nvPr/>
        </p:nvSpPr>
        <p:spPr>
          <a:xfrm>
            <a:off x="5486400" y="1828800"/>
            <a:ext cx="5486400" cy="5486400"/>
          </a:xfrm>
          <a:prstGeom prst="ellipse">
            <a:avLst/>
          </a:prstGeom>
          <a:solidFill>
            <a:srgbClr val="2DD4BF">
              <a:alpha val="12000"/>
            </a:srgbClr>
          </a:solidFill>
          <a:ln w="12700">
            <a:solidFill>
              <a:srgbClr val="2DD4BF"/>
            </a:solidFill>
            <a:prstDash val="solid"/>
          </a:ln>
        </p:spPr>
      </p:sp>
      <p:sp>
        <p:nvSpPr>
          <p:cNvPr id="4" name="Text 2"/>
          <p:cNvSpPr/>
          <p:nvPr/>
        </p:nvSpPr>
        <p:spPr>
          <a:xfrm>
            <a:off x="457200" y="548640"/>
            <a:ext cx="8229600" cy="1371600"/>
          </a:xfrm>
          <a:prstGeom prst="rect">
            <a:avLst/>
          </a:prstGeom>
          <a:noFill/>
          <a:ln/>
        </p:spPr>
        <p:txBody>
          <a:bodyPr wrap="square" lIns="0" tIns="0" rIns="0" bIns="0" rtlCol="0" anchor="ctr"/>
          <a:lstStyle/>
          <a:p>
            <a:pPr algn="ctr" indent="0" marL="0">
              <a:buNone/>
            </a:pPr>
            <a:r>
              <a:rPr lang="en-US" sz="6400" b="1" dirty="0">
                <a:solidFill>
                  <a:srgbClr val="FFFFFF"/>
                </a:solidFill>
                <a:latin typeface="Cambria" pitchFamily="34" charset="0"/>
                <a:ea typeface="Cambria" pitchFamily="34" charset="-122"/>
                <a:cs typeface="Cambria" pitchFamily="34" charset="-120"/>
              </a:rPr>
              <a:t>Thank You</a:t>
            </a:r>
            <a:endParaRPr lang="en-US" sz="6400" dirty="0"/>
          </a:p>
        </p:txBody>
      </p:sp>
      <p:sp>
        <p:nvSpPr>
          <p:cNvPr id="5" name="Text 3"/>
          <p:cNvSpPr/>
          <p:nvPr/>
        </p:nvSpPr>
        <p:spPr>
          <a:xfrm>
            <a:off x="457200" y="1920240"/>
            <a:ext cx="8229600" cy="594360"/>
          </a:xfrm>
          <a:prstGeom prst="rect">
            <a:avLst/>
          </a:prstGeom>
          <a:noFill/>
          <a:ln/>
        </p:spPr>
        <p:txBody>
          <a:bodyPr wrap="square" lIns="0" tIns="0" rIns="0" bIns="0" rtlCol="0" anchor="ctr"/>
          <a:lstStyle/>
          <a:p>
            <a:pPr algn="ctr" indent="0" marL="0">
              <a:buNone/>
            </a:pPr>
            <a:r>
              <a:rPr lang="en-US" sz="1600" i="1" dirty="0">
                <a:solidFill>
                  <a:srgbClr val="2DD4BF"/>
                </a:solidFill>
                <a:latin typeface="Calibri" pitchFamily="34" charset="0"/>
                <a:ea typeface="Calibri" pitchFamily="34" charset="-122"/>
                <a:cs typeface="Calibri" pitchFamily="34" charset="-120"/>
              </a:rPr>
              <a:t>SplitPay — Making Cross-Border Group Expenses Fast, Cheap &amp; On-Chain</a:t>
            </a:r>
            <a:endParaRPr lang="en-US" sz="1600" dirty="0"/>
          </a:p>
        </p:txBody>
      </p:sp>
      <p:sp>
        <p:nvSpPr>
          <p:cNvPr id="6" name="Shape 4"/>
          <p:cNvSpPr/>
          <p:nvPr/>
        </p:nvSpPr>
        <p:spPr>
          <a:xfrm>
            <a:off x="731520" y="2788920"/>
            <a:ext cx="2377440" cy="640080"/>
          </a:xfrm>
          <a:prstGeom prst="roundRect">
            <a:avLst>
              <a:gd name="adj" fmla="val 17143"/>
            </a:avLst>
          </a:prstGeom>
          <a:solidFill>
            <a:srgbClr val="1E293B"/>
          </a:solidFill>
          <a:ln w="12700">
            <a:solidFill>
              <a:srgbClr val="2DD4BF"/>
            </a:solidFill>
            <a:prstDash val="solid"/>
          </a:ln>
          <a:effectLst>
            <a:outerShdw sx="100000" sy="100000" kx="0" ky="0" algn="bl" rotWithShape="0" blurRad="127000" dist="38100" dir="2700000">
              <a:srgbClr val="000000">
                <a:alpha val="12000"/>
              </a:srgbClr>
            </a:outerShdw>
          </a:effectLst>
        </p:spPr>
      </p:sp>
      <p:sp>
        <p:nvSpPr>
          <p:cNvPr id="7" name="Text 5"/>
          <p:cNvSpPr/>
          <p:nvPr/>
        </p:nvSpPr>
        <p:spPr>
          <a:xfrm>
            <a:off x="731520" y="2788920"/>
            <a:ext cx="237744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Instant XLM Settlement</a:t>
            </a:r>
            <a:endParaRPr lang="en-US" sz="1200" dirty="0"/>
          </a:p>
        </p:txBody>
      </p:sp>
      <p:sp>
        <p:nvSpPr>
          <p:cNvPr id="8" name="Shape 6"/>
          <p:cNvSpPr/>
          <p:nvPr/>
        </p:nvSpPr>
        <p:spPr>
          <a:xfrm>
            <a:off x="3383280" y="2788920"/>
            <a:ext cx="2377440" cy="640080"/>
          </a:xfrm>
          <a:prstGeom prst="roundRect">
            <a:avLst>
              <a:gd name="adj" fmla="val 17143"/>
            </a:avLst>
          </a:prstGeom>
          <a:solidFill>
            <a:srgbClr val="1E293B"/>
          </a:solidFill>
          <a:ln w="12700">
            <a:solidFill>
              <a:srgbClr val="2DD4BF"/>
            </a:solidFill>
            <a:prstDash val="solid"/>
          </a:ln>
          <a:effectLst>
            <a:outerShdw sx="100000" sy="100000" kx="0" ky="0" algn="bl" rotWithShape="0" blurRad="127000" dist="38100" dir="2700000">
              <a:srgbClr val="000000">
                <a:alpha val="12000"/>
              </a:srgbClr>
            </a:outerShdw>
          </a:effectLst>
        </p:spPr>
      </p:sp>
      <p:sp>
        <p:nvSpPr>
          <p:cNvPr id="9" name="Text 7"/>
          <p:cNvSpPr/>
          <p:nvPr/>
        </p:nvSpPr>
        <p:spPr>
          <a:xfrm>
            <a:off x="3383280" y="2788920"/>
            <a:ext cx="237744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Truly Cross-Border</a:t>
            </a:r>
            <a:endParaRPr lang="en-US" sz="1200" dirty="0"/>
          </a:p>
        </p:txBody>
      </p:sp>
      <p:sp>
        <p:nvSpPr>
          <p:cNvPr id="10" name="Shape 8"/>
          <p:cNvSpPr/>
          <p:nvPr/>
        </p:nvSpPr>
        <p:spPr>
          <a:xfrm>
            <a:off x="6035040" y="2788920"/>
            <a:ext cx="2377440" cy="640080"/>
          </a:xfrm>
          <a:prstGeom prst="roundRect">
            <a:avLst>
              <a:gd name="adj" fmla="val 17143"/>
            </a:avLst>
          </a:prstGeom>
          <a:solidFill>
            <a:srgbClr val="1E293B"/>
          </a:solidFill>
          <a:ln w="12700">
            <a:solidFill>
              <a:srgbClr val="2DD4BF"/>
            </a:solidFill>
            <a:prstDash val="solid"/>
          </a:ln>
          <a:effectLst>
            <a:outerShdw sx="100000" sy="100000" kx="0" ky="0" algn="bl" rotWithShape="0" blurRad="127000" dist="38100" dir="2700000">
              <a:srgbClr val="000000">
                <a:alpha val="12000"/>
              </a:srgbClr>
            </a:outerShdw>
          </a:effectLst>
        </p:spPr>
      </p:sp>
      <p:sp>
        <p:nvSpPr>
          <p:cNvPr id="11" name="Text 9"/>
          <p:cNvSpPr/>
          <p:nvPr/>
        </p:nvSpPr>
        <p:spPr>
          <a:xfrm>
            <a:off x="6035040" y="2788920"/>
            <a:ext cx="237744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Fully On-Chain</a:t>
            </a:r>
            <a:endParaRPr lang="en-US" sz="1200" dirty="0"/>
          </a:p>
        </p:txBody>
      </p:sp>
      <p:sp>
        <p:nvSpPr>
          <p:cNvPr id="12" name="Text 10"/>
          <p:cNvSpPr/>
          <p:nvPr/>
        </p:nvSpPr>
        <p:spPr>
          <a:xfrm>
            <a:off x="457200" y="4160520"/>
            <a:ext cx="8229600" cy="347472"/>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Built on Stellar · Soroban Smart Contracts · Freighter Wallet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SplitPay – Cross-Border Group Expense Settlement on Stellar</dc:title>
  <dc:subject>PptxGenJS Presentation</dc:subject>
  <dc:creator>PptxGenJS</dc:creator>
  <cp:lastModifiedBy>PptxGenJS</cp:lastModifiedBy>
  <cp:revision>1</cp:revision>
  <dcterms:created xsi:type="dcterms:W3CDTF">2026-06-27T19:36:17Z</dcterms:created>
  <dcterms:modified xsi:type="dcterms:W3CDTF">2026-06-27T19:36:17Z</dcterms:modified>
</cp:coreProperties>
</file>